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applause.wav" ContentType="audio/wav"/>
  <Override PartName="/ppt/media/bell.wav" ContentType="audio/wav"/>
  <Override PartName="/ppt/media/pop.wav" ContentType="audio/wav"/>
  <Override PartName="/ppt/media/success.wav" ContentType="audio/wav"/>
  <Override PartName="/ppt/media/wrong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شريحة ترحيبية. التاريخ يتحدّث تلقائيًا عند فتح الملف.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استراتيجية شريط الذكريات: اسألي الطالبات عن كل إطار، ثم اضغطي الإطار لتظهر الإجابة. الإطار الأخير سؤال تفاعلي.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اضغطي على بطاقة الهدف في نهاية الحصة لوضع علامة ✓ عند تحقّقه.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تمهيد: اقرئي كل لغز ودعي الطالبات يتوقّعن، ثم اضغطي ؟ لإظهار الإجابة. ثم اسألي: ما الذي يجمعها؟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اقرئي القصة مع الطالبات، واطلبي منهن استخراج الأدوات. اضغطي كل بطاقة (أداة) بعد أن تذكرها الطالبات.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اطلبي من الطالبات إكمال الجملة شفهيًا، ثم اضغطي ؟ لتظهر الإجابة ووزنها.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ربط بالوطن: اقرئي الجملة واسألي الطالبات عن اسم الآلة، ثم اضغطي ؟ لإظهار الإجابة ووزنها. اختمي بزر «رسالة لوطني».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دعي الطالبات يصغن التعريف بأنفسهن أولًا، ثم اكشفي أجزاءه بالترتيب.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اطلبي من الطالبات الإجابة أو التوقّع، ثم اضغطي البطاقة لقلبها.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اضغطي على كل نوع لإظهار شرحه وأمثلته.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ابدئي المؤقت، ودعي الطالبات يذكرن أسماء الآلات. بعدها اكشفي الفقاعات 💡 لإظهار أفكار إضافية.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اضغطي ▶ تحت كل مرحلة لبدء مؤقتها. اكشفي الإجابات بالضغط على ؟. (حرث: مِحراث أو حرّاثة، كلاهما صحيح).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اضغطي على الخيار الذي تختاره الطالبة. الإجابة الخاطئة تُظهر «حاولي مرة أخرى»، والصحيحة تُظهر «أحسنتِ» مع شرح.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تقرأ الطالبة الجملة وتحدد اسم الآلة، ثم اضغطي ؟ للتحقق.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اضغطي على الخيار الذي تختاره الطالبة. الإجابة الخاطئة تُظهر «حاولي مرة أخرى»، والصحيحة تُظهر «أحسنتِ» مع شرح.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اقرئي العبارة، تصوّت الطالبات، ثم اضغطي صح أو خطأ.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دعي الطالبات يتوقّعن نوع (رافعة) في كل جملة، ثم اضغطي اختيارهن.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اضغطي على الخيار الذي تختاره الطالبة. الإجابة الخاطئة تُظهر «حاولي مرة أخرى»، والصحيحة تُظهر «أحسنتِ» مع شرح.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ابدئي المؤقت، تُصنّف الطالبات الكلمات بسرعة (فرديًا أو بالمجموعات)، ثم اضغطي كل كلمة لإظهار تصنيفها.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وزّعي الأدوار داخل كل مجموعة، ابدئي مؤقت ٥ دقائق، وامنحي النجوم بالضغط على 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اطلبي من الطالبات الإجابة أو التوقّع، ثم اضغطي البطاقة لقلبها.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اضغطي على الخيار الذي تختاره الطالبة. الإجابة الخاطئة تُظهر «حاولي مرة أخرى»، والصحيحة تُظهر «أحسنتِ» مع شرح.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تقييم ذاتي: تضغط الطالبة على الوجه المناسب. ثم وضّحي الواجب المنزلي.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شريحة ختامية: اضغطي زر التصفيق.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image" Target="../media/image3.png"/><Relationship Id="rId5" Type="http://schemas.openxmlformats.org/officeDocument/2006/relationships/audio" Target="../media/pop.wav"/><Relationship Id="rId6" Type="http://schemas.openxmlformats.org/officeDocument/2006/relationships/audio" Target="../media/success.wav"/><Relationship Id="rId7" Type="http://schemas.openxmlformats.org/officeDocument/2006/relationships/audio" Target="../media/wrong.wav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pop.wav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image" Target="../media/image3.png"/><Relationship Id="rId5" Type="http://schemas.openxmlformats.org/officeDocument/2006/relationships/audio" Target="../media/pop.wav"/><Relationship Id="rId6" Type="http://schemas.openxmlformats.org/officeDocument/2006/relationships/audio" Target="../media/success.wav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pop.wav"/><Relationship Id="rId5" Type="http://schemas.openxmlformats.org/officeDocument/2006/relationships/audio" Target="../media/success.wav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pop.wav"/><Relationship Id="rId5" Type="http://schemas.openxmlformats.org/officeDocument/2006/relationships/audio" Target="../media/success.wav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image" Target="../media/image3.png"/><Relationship Id="rId5" Type="http://schemas.openxmlformats.org/officeDocument/2006/relationships/audio" Target="../media/pop.wav"/><Relationship Id="rId6" Type="http://schemas.openxmlformats.org/officeDocument/2006/relationships/audio" Target="../media/success.wav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pop.wav"/><Relationship Id="rId5" Type="http://schemas.openxmlformats.org/officeDocument/2006/relationships/audio" Target="../media/success.wav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pop.wav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pop.wav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pop.wav"/><Relationship Id="rId5" Type="http://schemas.openxmlformats.org/officeDocument/2006/relationships/audio" Target="../media/bell.wav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bell.wav"/><Relationship Id="rId5" Type="http://schemas.openxmlformats.org/officeDocument/2006/relationships/audio" Target="../media/pop.wav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image" Target="../media/image3.png"/><Relationship Id="rId5" Type="http://schemas.openxmlformats.org/officeDocument/2006/relationships/audio" Target="../media/wrong.wav"/><Relationship Id="rId6" Type="http://schemas.openxmlformats.org/officeDocument/2006/relationships/audio" Target="../media/success.wav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pop.wav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image" Target="../media/image3.png"/><Relationship Id="rId5" Type="http://schemas.openxmlformats.org/officeDocument/2006/relationships/audio" Target="../media/wrong.wav"/><Relationship Id="rId6" Type="http://schemas.openxmlformats.org/officeDocument/2006/relationships/audio" Target="../media/success.wav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success.wav"/><Relationship Id="rId5" Type="http://schemas.openxmlformats.org/officeDocument/2006/relationships/audio" Target="../media/wrong.wav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success.wav"/><Relationship Id="rId5" Type="http://schemas.openxmlformats.org/officeDocument/2006/relationships/audio" Target="../media/wrong.wav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image" Target="../media/image3.png"/><Relationship Id="rId5" Type="http://schemas.openxmlformats.org/officeDocument/2006/relationships/audio" Target="../media/wrong.wav"/><Relationship Id="rId6" Type="http://schemas.openxmlformats.org/officeDocument/2006/relationships/audio" Target="../media/success.wav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bell.wav"/><Relationship Id="rId5" Type="http://schemas.openxmlformats.org/officeDocument/2006/relationships/audio" Target="../media/pop.wav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bell.wav"/><Relationship Id="rId5" Type="http://schemas.openxmlformats.org/officeDocument/2006/relationships/audio" Target="../media/pop.wav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pop.wav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image" Target="../media/image3.png"/><Relationship Id="rId5" Type="http://schemas.openxmlformats.org/officeDocument/2006/relationships/audio" Target="../media/success.wav"/><Relationship Id="rId6" Type="http://schemas.openxmlformats.org/officeDocument/2006/relationships/audio" Target="../media/wrong.wav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audio" Target="../media/pop.wav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audio" Target="../media/applause.wav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4" name="Rounded Rectangle 3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5" name="Rounded Rectangle 4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١ / ٢٤</a:t>
            </a:r>
          </a:p>
        </p:txBody>
      </p:sp>
      <p:pic>
        <p:nvPicPr>
          <p:cNvPr id="7" name="Picture 6" descr="theme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40000">
            <a:off x="952500" y="4064000"/>
            <a:ext cx="2413000" cy="19534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17000" y="952500"/>
            <a:ext cx="762000" cy="698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4000" b="1" lang="ar-SA">
                <a:solidFill>
                  <a:srgbClr val="2D1F4A"/>
                </a:solidFill>
                <a:latin typeface="Arial"/>
                <a:cs typeface="Arial"/>
              </a:rPr>
              <a:t>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0" y="3810000"/>
            <a:ext cx="762000" cy="698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4000" b="1" lang="ar-SA">
                <a:solidFill>
                  <a:srgbClr val="2D1F4A"/>
                </a:solidFill>
                <a:latin typeface="Arial"/>
                <a:cs typeface="Arial"/>
              </a:rPr>
              <a:t>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1079500"/>
            <a:ext cx="762000" cy="698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4000" b="1" lang="ar-SA">
                <a:solidFill>
                  <a:srgbClr val="2D1F4A"/>
                </a:solidFill>
                <a:latin typeface="Arial"/>
                <a:cs typeface="Arial"/>
              </a:rPr>
              <a:t>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500" y="2984500"/>
            <a:ext cx="762000" cy="698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4000" b="1" lang="ar-SA">
                <a:solidFill>
                  <a:srgbClr val="2D1F4A"/>
                </a:solidFill>
                <a:latin typeface="Arial"/>
                <a:cs typeface="Arial"/>
              </a:rPr>
              <a:t>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73500" y="1270000"/>
            <a:ext cx="4445000" cy="457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6A45A8"/>
                </a:solidFill>
                <a:latin typeface="Arial"/>
                <a:cs typeface="Arial"/>
              </a:rPr>
              <a:t>لغتي • الصفّ السادس الابتدائي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841500"/>
            <a:ext cx="76200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500" b="1" lang="ar-SA">
                <a:solidFill>
                  <a:srgbClr val="7D5BBF"/>
                </a:solidFill>
                <a:latin typeface="Arial"/>
                <a:cs typeface="Arial"/>
              </a:rPr>
              <a:t>صباحُ العلمِ يا مُبدِعات 🌸 مستعدّاتٌ لمغامرةٍ لغويّةٍ؟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1000" y="2349500"/>
            <a:ext cx="6350000" cy="1460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9600" b="1" lang="ar-SA">
                <a:solidFill>
                  <a:srgbClr val="4F2F86"/>
                </a:solidFill>
                <a:latin typeface="Arial"/>
                <a:cs typeface="Arial"/>
              </a:rPr>
              <a:t>اسمُ الآلةِ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73500" y="3937000"/>
            <a:ext cx="4445000" cy="584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000" b="1" lang="ar-SA">
                <a:solidFill>
                  <a:srgbClr val="6A45A8"/>
                </a:solidFill>
                <a:latin typeface="Arial"/>
                <a:cs typeface="Arial"/>
              </a:rPr>
              <a:t>الصِّنفُ اللُّغويُّ: المُشتقّاتُ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1000" y="4667250"/>
            <a:ext cx="6350000" cy="406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1800" b="1" lang="ar-SA">
                <a:solidFill>
                  <a:srgbClr val="9A7FD6"/>
                </a:solidFill>
                <a:latin typeface="Arial"/>
                <a:cs typeface="Arial"/>
              </a:rPr>
              <a:t>المعلّمة: حنان العنزي   |   </a:t>
            </a:r>
            <a:fld id="{651F25E9-4FC7-4A4E-87E1-7F34CE52ADB2}" type="datetime2">
              <a:rPr lang="ar-SA" sz="1800" b="1">
                <a:solidFill>
                  <a:srgbClr val="9A7FD6"/>
                </a:solidFill>
                <a:latin typeface="Arial"/>
                <a:cs typeface="Arial"/>
              </a:rPr>
              <a:pPr rtl="1" algn="ctr"/>
              <a:t>التاريخ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</p:bldLst>
  </p:timing>
  <p:transition spd="med">
    <p:zoom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نسترجعُ ذكرياتِ درسِنا السابقِ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🎞️ شريطُ الذكريات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٢ / ٢٤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1270000"/>
            <a:ext cx="8890000" cy="406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اسمُ الفاعلِ واسمُ المفعولِ 🎬 اضغطي على الإطارِ لتظهرَ الذكرى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500" y="1841500"/>
            <a:ext cx="10541000" cy="3556000"/>
          </a:xfrm>
          <a:prstGeom prst="roundRect">
            <a:avLst>
              <a:gd name="adj" fmla="val 5357"/>
            </a:avLst>
          </a:prstGeom>
          <a:solidFill>
            <a:srgbClr val="3A2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1" name="Rounded Rectangle 10"/>
          <p:cNvSpPr/>
          <p:nvPr/>
        </p:nvSpPr>
        <p:spPr>
          <a:xfrm>
            <a:off x="9525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2" name="Rounded Rectangle 11"/>
          <p:cNvSpPr/>
          <p:nvPr/>
        </p:nvSpPr>
        <p:spPr>
          <a:xfrm>
            <a:off x="12446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3" name="Rounded Rectangle 12"/>
          <p:cNvSpPr/>
          <p:nvPr/>
        </p:nvSpPr>
        <p:spPr>
          <a:xfrm>
            <a:off x="15367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4" name="Rounded Rectangle 13"/>
          <p:cNvSpPr/>
          <p:nvPr/>
        </p:nvSpPr>
        <p:spPr>
          <a:xfrm>
            <a:off x="18288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5" name="Rounded Rectangle 14"/>
          <p:cNvSpPr/>
          <p:nvPr/>
        </p:nvSpPr>
        <p:spPr>
          <a:xfrm>
            <a:off x="21209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6" name="Rounded Rectangle 15"/>
          <p:cNvSpPr/>
          <p:nvPr/>
        </p:nvSpPr>
        <p:spPr>
          <a:xfrm>
            <a:off x="24130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7" name="Rounded Rectangle 16"/>
          <p:cNvSpPr/>
          <p:nvPr/>
        </p:nvSpPr>
        <p:spPr>
          <a:xfrm>
            <a:off x="27051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8" name="Rounded Rectangle 17"/>
          <p:cNvSpPr/>
          <p:nvPr/>
        </p:nvSpPr>
        <p:spPr>
          <a:xfrm>
            <a:off x="29972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9" name="Rounded Rectangle 18"/>
          <p:cNvSpPr/>
          <p:nvPr/>
        </p:nvSpPr>
        <p:spPr>
          <a:xfrm>
            <a:off x="32893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0" name="Rounded Rectangle 19"/>
          <p:cNvSpPr/>
          <p:nvPr/>
        </p:nvSpPr>
        <p:spPr>
          <a:xfrm>
            <a:off x="35814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1" name="Rounded Rectangle 20"/>
          <p:cNvSpPr/>
          <p:nvPr/>
        </p:nvSpPr>
        <p:spPr>
          <a:xfrm>
            <a:off x="38735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2" name="Rounded Rectangle 21"/>
          <p:cNvSpPr/>
          <p:nvPr/>
        </p:nvSpPr>
        <p:spPr>
          <a:xfrm>
            <a:off x="41656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3" name="Rounded Rectangle 22"/>
          <p:cNvSpPr/>
          <p:nvPr/>
        </p:nvSpPr>
        <p:spPr>
          <a:xfrm>
            <a:off x="44577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4" name="Rounded Rectangle 23"/>
          <p:cNvSpPr/>
          <p:nvPr/>
        </p:nvSpPr>
        <p:spPr>
          <a:xfrm>
            <a:off x="47498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5" name="Rounded Rectangle 24"/>
          <p:cNvSpPr/>
          <p:nvPr/>
        </p:nvSpPr>
        <p:spPr>
          <a:xfrm>
            <a:off x="50419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6" name="Rounded Rectangle 25"/>
          <p:cNvSpPr/>
          <p:nvPr/>
        </p:nvSpPr>
        <p:spPr>
          <a:xfrm>
            <a:off x="53340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7" name="Rounded Rectangle 26"/>
          <p:cNvSpPr/>
          <p:nvPr/>
        </p:nvSpPr>
        <p:spPr>
          <a:xfrm>
            <a:off x="56261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8" name="Rounded Rectangle 27"/>
          <p:cNvSpPr/>
          <p:nvPr/>
        </p:nvSpPr>
        <p:spPr>
          <a:xfrm>
            <a:off x="59182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9" name="Rounded Rectangle 28"/>
          <p:cNvSpPr/>
          <p:nvPr/>
        </p:nvSpPr>
        <p:spPr>
          <a:xfrm>
            <a:off x="62103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0" name="Rounded Rectangle 29"/>
          <p:cNvSpPr/>
          <p:nvPr/>
        </p:nvSpPr>
        <p:spPr>
          <a:xfrm>
            <a:off x="65024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1" name="Rounded Rectangle 30"/>
          <p:cNvSpPr/>
          <p:nvPr/>
        </p:nvSpPr>
        <p:spPr>
          <a:xfrm>
            <a:off x="67945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2" name="Rounded Rectangle 31"/>
          <p:cNvSpPr/>
          <p:nvPr/>
        </p:nvSpPr>
        <p:spPr>
          <a:xfrm>
            <a:off x="70866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3" name="Rounded Rectangle 32"/>
          <p:cNvSpPr/>
          <p:nvPr/>
        </p:nvSpPr>
        <p:spPr>
          <a:xfrm>
            <a:off x="73787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4" name="Rounded Rectangle 33"/>
          <p:cNvSpPr/>
          <p:nvPr/>
        </p:nvSpPr>
        <p:spPr>
          <a:xfrm>
            <a:off x="76708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5" name="Rounded Rectangle 34"/>
          <p:cNvSpPr/>
          <p:nvPr/>
        </p:nvSpPr>
        <p:spPr>
          <a:xfrm>
            <a:off x="79629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6" name="Rounded Rectangle 35"/>
          <p:cNvSpPr/>
          <p:nvPr/>
        </p:nvSpPr>
        <p:spPr>
          <a:xfrm>
            <a:off x="82550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7" name="Rounded Rectangle 36"/>
          <p:cNvSpPr/>
          <p:nvPr/>
        </p:nvSpPr>
        <p:spPr>
          <a:xfrm>
            <a:off x="85471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8" name="Rounded Rectangle 37"/>
          <p:cNvSpPr/>
          <p:nvPr/>
        </p:nvSpPr>
        <p:spPr>
          <a:xfrm>
            <a:off x="88392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9" name="Rounded Rectangle 38"/>
          <p:cNvSpPr/>
          <p:nvPr/>
        </p:nvSpPr>
        <p:spPr>
          <a:xfrm>
            <a:off x="91313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40" name="Rounded Rectangle 39"/>
          <p:cNvSpPr/>
          <p:nvPr/>
        </p:nvSpPr>
        <p:spPr>
          <a:xfrm>
            <a:off x="94234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41" name="Rounded Rectangle 40"/>
          <p:cNvSpPr/>
          <p:nvPr/>
        </p:nvSpPr>
        <p:spPr>
          <a:xfrm>
            <a:off x="97155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42" name="Rounded Rectangle 41"/>
          <p:cNvSpPr/>
          <p:nvPr/>
        </p:nvSpPr>
        <p:spPr>
          <a:xfrm>
            <a:off x="100076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43" name="Rounded Rectangle 42"/>
          <p:cNvSpPr/>
          <p:nvPr/>
        </p:nvSpPr>
        <p:spPr>
          <a:xfrm>
            <a:off x="102997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44" name="Rounded Rectangle 43"/>
          <p:cNvSpPr/>
          <p:nvPr/>
        </p:nvSpPr>
        <p:spPr>
          <a:xfrm>
            <a:off x="105918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45" name="Rounded Rectangle 44"/>
          <p:cNvSpPr/>
          <p:nvPr/>
        </p:nvSpPr>
        <p:spPr>
          <a:xfrm>
            <a:off x="10883900" y="19431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46" name="Rounded Rectangle 45"/>
          <p:cNvSpPr/>
          <p:nvPr/>
        </p:nvSpPr>
        <p:spPr>
          <a:xfrm>
            <a:off x="9525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47" name="Rounded Rectangle 46"/>
          <p:cNvSpPr/>
          <p:nvPr/>
        </p:nvSpPr>
        <p:spPr>
          <a:xfrm>
            <a:off x="12446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48" name="Rounded Rectangle 47"/>
          <p:cNvSpPr/>
          <p:nvPr/>
        </p:nvSpPr>
        <p:spPr>
          <a:xfrm>
            <a:off x="15367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49" name="Rounded Rectangle 48"/>
          <p:cNvSpPr/>
          <p:nvPr/>
        </p:nvSpPr>
        <p:spPr>
          <a:xfrm>
            <a:off x="18288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50" name="Rounded Rectangle 49"/>
          <p:cNvSpPr/>
          <p:nvPr/>
        </p:nvSpPr>
        <p:spPr>
          <a:xfrm>
            <a:off x="21209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51" name="Rounded Rectangle 50"/>
          <p:cNvSpPr/>
          <p:nvPr/>
        </p:nvSpPr>
        <p:spPr>
          <a:xfrm>
            <a:off x="24130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52" name="Rounded Rectangle 51"/>
          <p:cNvSpPr/>
          <p:nvPr/>
        </p:nvSpPr>
        <p:spPr>
          <a:xfrm>
            <a:off x="27051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53" name="Rounded Rectangle 52"/>
          <p:cNvSpPr/>
          <p:nvPr/>
        </p:nvSpPr>
        <p:spPr>
          <a:xfrm>
            <a:off x="29972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54" name="Rounded Rectangle 53"/>
          <p:cNvSpPr/>
          <p:nvPr/>
        </p:nvSpPr>
        <p:spPr>
          <a:xfrm>
            <a:off x="32893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55" name="Rounded Rectangle 54"/>
          <p:cNvSpPr/>
          <p:nvPr/>
        </p:nvSpPr>
        <p:spPr>
          <a:xfrm>
            <a:off x="35814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56" name="Rounded Rectangle 55"/>
          <p:cNvSpPr/>
          <p:nvPr/>
        </p:nvSpPr>
        <p:spPr>
          <a:xfrm>
            <a:off x="38735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57" name="Rounded Rectangle 56"/>
          <p:cNvSpPr/>
          <p:nvPr/>
        </p:nvSpPr>
        <p:spPr>
          <a:xfrm>
            <a:off x="41656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58" name="Rounded Rectangle 57"/>
          <p:cNvSpPr/>
          <p:nvPr/>
        </p:nvSpPr>
        <p:spPr>
          <a:xfrm>
            <a:off x="44577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59" name="Rounded Rectangle 58"/>
          <p:cNvSpPr/>
          <p:nvPr/>
        </p:nvSpPr>
        <p:spPr>
          <a:xfrm>
            <a:off x="47498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60" name="Rounded Rectangle 59"/>
          <p:cNvSpPr/>
          <p:nvPr/>
        </p:nvSpPr>
        <p:spPr>
          <a:xfrm>
            <a:off x="50419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61" name="Rounded Rectangle 60"/>
          <p:cNvSpPr/>
          <p:nvPr/>
        </p:nvSpPr>
        <p:spPr>
          <a:xfrm>
            <a:off x="53340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62" name="Rounded Rectangle 61"/>
          <p:cNvSpPr/>
          <p:nvPr/>
        </p:nvSpPr>
        <p:spPr>
          <a:xfrm>
            <a:off x="56261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63" name="Rounded Rectangle 62"/>
          <p:cNvSpPr/>
          <p:nvPr/>
        </p:nvSpPr>
        <p:spPr>
          <a:xfrm>
            <a:off x="59182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64" name="Rounded Rectangle 63"/>
          <p:cNvSpPr/>
          <p:nvPr/>
        </p:nvSpPr>
        <p:spPr>
          <a:xfrm>
            <a:off x="62103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65" name="Rounded Rectangle 64"/>
          <p:cNvSpPr/>
          <p:nvPr/>
        </p:nvSpPr>
        <p:spPr>
          <a:xfrm>
            <a:off x="65024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66" name="Rounded Rectangle 65"/>
          <p:cNvSpPr/>
          <p:nvPr/>
        </p:nvSpPr>
        <p:spPr>
          <a:xfrm>
            <a:off x="67945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67" name="Rounded Rectangle 66"/>
          <p:cNvSpPr/>
          <p:nvPr/>
        </p:nvSpPr>
        <p:spPr>
          <a:xfrm>
            <a:off x="70866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68" name="Rounded Rectangle 67"/>
          <p:cNvSpPr/>
          <p:nvPr/>
        </p:nvSpPr>
        <p:spPr>
          <a:xfrm>
            <a:off x="73787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69" name="Rounded Rectangle 68"/>
          <p:cNvSpPr/>
          <p:nvPr/>
        </p:nvSpPr>
        <p:spPr>
          <a:xfrm>
            <a:off x="76708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70" name="Rounded Rectangle 69"/>
          <p:cNvSpPr/>
          <p:nvPr/>
        </p:nvSpPr>
        <p:spPr>
          <a:xfrm>
            <a:off x="79629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71" name="Rounded Rectangle 70"/>
          <p:cNvSpPr/>
          <p:nvPr/>
        </p:nvSpPr>
        <p:spPr>
          <a:xfrm>
            <a:off x="82550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72" name="Rounded Rectangle 71"/>
          <p:cNvSpPr/>
          <p:nvPr/>
        </p:nvSpPr>
        <p:spPr>
          <a:xfrm>
            <a:off x="85471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73" name="Rounded Rectangle 72"/>
          <p:cNvSpPr/>
          <p:nvPr/>
        </p:nvSpPr>
        <p:spPr>
          <a:xfrm>
            <a:off x="88392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74" name="Rounded Rectangle 73"/>
          <p:cNvSpPr/>
          <p:nvPr/>
        </p:nvSpPr>
        <p:spPr>
          <a:xfrm>
            <a:off x="91313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75" name="Rounded Rectangle 74"/>
          <p:cNvSpPr/>
          <p:nvPr/>
        </p:nvSpPr>
        <p:spPr>
          <a:xfrm>
            <a:off x="94234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76" name="Rounded Rectangle 75"/>
          <p:cNvSpPr/>
          <p:nvPr/>
        </p:nvSpPr>
        <p:spPr>
          <a:xfrm>
            <a:off x="97155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77" name="Rounded Rectangle 76"/>
          <p:cNvSpPr/>
          <p:nvPr/>
        </p:nvSpPr>
        <p:spPr>
          <a:xfrm>
            <a:off x="100076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78" name="Rounded Rectangle 77"/>
          <p:cNvSpPr/>
          <p:nvPr/>
        </p:nvSpPr>
        <p:spPr>
          <a:xfrm>
            <a:off x="102997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79" name="Rounded Rectangle 78"/>
          <p:cNvSpPr/>
          <p:nvPr/>
        </p:nvSpPr>
        <p:spPr>
          <a:xfrm>
            <a:off x="105918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80" name="Rounded Rectangle 79"/>
          <p:cNvSpPr/>
          <p:nvPr/>
        </p:nvSpPr>
        <p:spPr>
          <a:xfrm>
            <a:off x="10883900" y="5194300"/>
            <a:ext cx="165100" cy="114300"/>
          </a:xfrm>
          <a:prstGeom prst="roundRect">
            <a:avLst>
              <a:gd name="adj" fmla="val 33333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81" name="Rounded Rectangle 80"/>
          <p:cNvSpPr/>
          <p:nvPr/>
        </p:nvSpPr>
        <p:spPr>
          <a:xfrm>
            <a:off x="9271000" y="2190750"/>
            <a:ext cx="1905000" cy="2857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44450" bIns="44450">
            <a:noAutofit/>
          </a:bodyPr>
          <a:lstStyle/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⚖️ ذكرى ١</a:t>
            </a:r>
          </a:p>
          <a:p>
            <a:pPr algn="ctr" rtl="1"/>
          </a:p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ما حروفُ الميزانِ الصَّرفيِّ؟</a:t>
            </a:r>
          </a:p>
          <a:p>
            <a:pPr algn="ctr" rtl="1"/>
          </a:p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📸 اضغطي لاستعادةِ الذكرى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347200" y="3587750"/>
            <a:ext cx="1752600" cy="1358900"/>
          </a:xfrm>
          <a:prstGeom prst="roundRect">
            <a:avLst>
              <a:gd name="adj" fmla="val 8411"/>
            </a:avLst>
          </a:prstGeom>
          <a:solidFill>
            <a:srgbClr val="FFF9E3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2100" b="1" lang="ar-SA">
                <a:solidFill>
                  <a:srgbClr val="3B2263"/>
                </a:solidFill>
                <a:latin typeface="Arial"/>
                <a:cs typeface="Arial"/>
              </a:rPr>
              <a:t> — 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100" b="1" lang="ar-SA">
                <a:solidFill>
                  <a:srgbClr val="3B2263"/>
                </a:solidFill>
                <a:latin typeface="Arial"/>
                <a:cs typeface="Arial"/>
              </a:rPr>
              <a:t> — 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207250" y="2190750"/>
            <a:ext cx="1905000" cy="2857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44450" bIns="44450">
            <a:noAutofit/>
          </a:bodyPr>
          <a:lstStyle/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🙋‍♀️ ذكرى ٢</a:t>
            </a:r>
          </a:p>
          <a:p>
            <a:pPr algn="ctr" rtl="1"/>
          </a:p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على مَن يدلُّ اسمُ الفاعلِ؟</a:t>
            </a:r>
          </a:p>
          <a:p>
            <a:pPr algn="ctr" rtl="1"/>
          </a:p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📸 اضغطي لاستعادةِ الذكرى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283450" y="3587750"/>
            <a:ext cx="1752600" cy="1358900"/>
          </a:xfrm>
          <a:prstGeom prst="roundRect">
            <a:avLst>
              <a:gd name="adj" fmla="val 8411"/>
            </a:avLst>
          </a:prstGeom>
          <a:solidFill>
            <a:srgbClr val="FFF9E3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3B2263"/>
                </a:solidFill>
                <a:latin typeface="Arial"/>
                <a:cs typeface="Arial"/>
              </a:rPr>
              <a:t>على 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مَن قامَ</a:t>
            </a:r>
            <a:r>
              <a:rPr sz="2100" b="1" lang="ar-SA">
                <a:solidFill>
                  <a:srgbClr val="3B2263"/>
                </a:solidFill>
                <a:latin typeface="Arial"/>
                <a:cs typeface="Arial"/>
              </a:rPr>
              <a:t> بالفعلِ</a:t>
            </a:r>
          </a:p>
          <a:p>
            <a:pPr algn="ctr" rtl="1"/>
            <a:r>
              <a:rPr sz="2100" b="1" lang="ar-SA">
                <a:solidFill>
                  <a:srgbClr val="3B2263"/>
                </a:solidFill>
                <a:latin typeface="Arial"/>
                <a:cs typeface="Arial"/>
              </a:rPr>
              <a:t>كَتَبَ ← كَاتِب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143500" y="2190750"/>
            <a:ext cx="1905000" cy="2857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44450" bIns="44450">
            <a:noAutofit/>
          </a:bodyPr>
          <a:lstStyle/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📦 ذكرى ٣</a:t>
            </a:r>
          </a:p>
          <a:p>
            <a:pPr algn="ctr" rtl="1"/>
          </a:p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على مَن يدلُّ اسمُ المفعولِ؟</a:t>
            </a:r>
          </a:p>
          <a:p>
            <a:pPr algn="ctr" rtl="1"/>
          </a:p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📸 اضغطي لاستعادةِ الذكرى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219700" y="3587750"/>
            <a:ext cx="1752600" cy="1358900"/>
          </a:xfrm>
          <a:prstGeom prst="roundRect">
            <a:avLst>
              <a:gd name="adj" fmla="val 8411"/>
            </a:avLst>
          </a:prstGeom>
          <a:solidFill>
            <a:srgbClr val="FFF9E3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3B2263"/>
                </a:solidFill>
                <a:latin typeface="Arial"/>
                <a:cs typeface="Arial"/>
              </a:rPr>
              <a:t>على 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مَن وقعَ عليه</a:t>
            </a:r>
            <a:r>
              <a:rPr sz="2100" b="1" lang="ar-SA">
                <a:solidFill>
                  <a:srgbClr val="3B2263"/>
                </a:solidFill>
                <a:latin typeface="Arial"/>
                <a:cs typeface="Arial"/>
              </a:rPr>
              <a:t> الفعلُ</a:t>
            </a:r>
          </a:p>
          <a:p>
            <a:pPr algn="ctr" rtl="1"/>
            <a:r>
              <a:rPr sz="2100" b="1" lang="ar-SA">
                <a:solidFill>
                  <a:srgbClr val="3B2263"/>
                </a:solidFill>
                <a:latin typeface="Arial"/>
                <a:cs typeface="Arial"/>
              </a:rPr>
              <a:t>كَتَبَ ← مَكْتُوب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079750" y="2190750"/>
            <a:ext cx="1905000" cy="2857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44450" bIns="44450">
            <a:noAutofit/>
          </a:bodyPr>
          <a:lstStyle/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🚪 ذكرى ٤</a:t>
            </a:r>
          </a:p>
          <a:p>
            <a:pPr algn="ctr" rtl="1"/>
          </a:p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زِني: فَاتِح • مَفْتُوح</a:t>
            </a:r>
          </a:p>
          <a:p>
            <a:pPr algn="ctr" rtl="1"/>
          </a:p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📸 اضغطي لاستعادةِ الذكرى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155950" y="3587750"/>
            <a:ext cx="1752600" cy="1358900"/>
          </a:xfrm>
          <a:prstGeom prst="roundRect">
            <a:avLst>
              <a:gd name="adj" fmla="val 8411"/>
            </a:avLst>
          </a:prstGeom>
          <a:solidFill>
            <a:srgbClr val="FFF9E3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3B2263"/>
                </a:solidFill>
                <a:latin typeface="Arial"/>
                <a:cs typeface="Arial"/>
              </a:rPr>
              <a:t>فَاتِح ← 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2100" b="1" lang="ar-SA">
                <a:solidFill>
                  <a:srgbClr val="2D1F4A"/>
                </a:solidFill>
                <a:latin typeface="Arial"/>
                <a:cs typeface="Arial"/>
              </a:rPr>
              <a:t>ا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عِ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  <a:p>
            <a:pPr algn="ctr" rtl="1"/>
            <a:r>
              <a:rPr sz="2100" b="1" lang="ar-SA">
                <a:solidFill>
                  <a:srgbClr val="3B2263"/>
                </a:solidFill>
                <a:latin typeface="Arial"/>
                <a:cs typeface="Arial"/>
              </a:rPr>
              <a:t>مَفْتُوح ← </a:t>
            </a:r>
            <a:r>
              <a:rPr sz="2100" b="1" lang="ar-SA">
                <a:solidFill>
                  <a:srgbClr val="2D1F4A"/>
                </a:solidFill>
                <a:latin typeface="Arial"/>
                <a:cs typeface="Arial"/>
              </a:rPr>
              <a:t>مَ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عُ</a:t>
            </a:r>
            <a:r>
              <a:rPr sz="2100" b="1" lang="ar-SA">
                <a:solidFill>
                  <a:srgbClr val="2D1F4A"/>
                </a:solidFill>
                <a:latin typeface="Arial"/>
                <a:cs typeface="Arial"/>
              </a:rPr>
              <a:t>و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16000" y="2190750"/>
            <a:ext cx="1905000" cy="2857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44450" bIns="44450">
            <a:noAutofit/>
          </a:bodyPr>
          <a:lstStyle/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🎯 ذكرى ٥</a:t>
            </a:r>
          </a:p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كلمةُ:</a:t>
            </a:r>
          </a:p>
          <a:p>
            <a:pPr algn="ctr" rtl="1"/>
            <a:r>
              <a:rPr sz="3400" b="1" lang="ar-SA">
                <a:solidFill>
                  <a:srgbClr val="D6336C"/>
                </a:solidFill>
                <a:latin typeface="Arial"/>
                <a:cs typeface="Arial"/>
              </a:rPr>
              <a:t>لَاعِبَة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111250" y="4635500"/>
            <a:ext cx="1714500" cy="317500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D9506F"/>
                </a:solidFill>
                <a:latin typeface="Arial"/>
                <a:cs typeface="Arial"/>
              </a:rPr>
              <a:t>حاولي مرة أخرى 💜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111250" y="4635500"/>
            <a:ext cx="1714500" cy="317500"/>
          </a:xfrm>
          <a:prstGeom prst="roundRect">
            <a:avLst>
              <a:gd name="adj" fmla="val 50000"/>
            </a:avLst>
          </a:prstGeom>
          <a:solidFill>
            <a:srgbClr val="E2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23945E"/>
                </a:solidFill>
                <a:latin typeface="Arial"/>
                <a:cs typeface="Arial"/>
              </a:rPr>
              <a:t>أحسنتِ! 👏</a:t>
            </a:r>
          </a:p>
        </p:txBody>
      </p:sp>
      <p:pic>
        <p:nvPicPr>
          <p:cNvPr id="92" name="Picture 91" descr="confet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1206500"/>
            <a:ext cx="10795000" cy="4445000"/>
          </a:xfrm>
          <a:prstGeom prst="rect">
            <a:avLst/>
          </a:prstGeom>
        </p:spPr>
      </p:pic>
      <p:sp>
        <p:nvSpPr>
          <p:cNvPr id="93" name="Rounded Rectangle 92"/>
          <p:cNvSpPr/>
          <p:nvPr/>
        </p:nvSpPr>
        <p:spPr>
          <a:xfrm>
            <a:off x="1174750" y="3492500"/>
            <a:ext cx="1587500" cy="444500"/>
          </a:xfrm>
          <a:prstGeom prst="roundRect">
            <a:avLst>
              <a:gd name="adj" fmla="val 34285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اسمُ فاعلٍ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74750" y="3492500"/>
            <a:ext cx="1587500" cy="444500"/>
          </a:xfrm>
          <a:prstGeom prst="roundRect">
            <a:avLst>
              <a:gd name="adj" fmla="val 34285"/>
            </a:avLst>
          </a:prstGeom>
          <a:solidFill>
            <a:srgbClr val="E2F6EA"/>
          </a:solidFill>
          <a:ln w="381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23945E"/>
                </a:solidFill>
                <a:latin typeface="Arial"/>
                <a:cs typeface="Arial"/>
              </a:rPr>
              <a:t>✅  </a:t>
            </a:r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اسمُ فاعلٍ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174750" y="4032250"/>
            <a:ext cx="1587500" cy="444500"/>
          </a:xfrm>
          <a:prstGeom prst="roundRect">
            <a:avLst>
              <a:gd name="adj" fmla="val 34285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اسمُ مفعولٍ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174750" y="4032250"/>
            <a:ext cx="1587500" cy="444500"/>
          </a:xfrm>
          <a:prstGeom prst="roundRect">
            <a:avLst>
              <a:gd name="adj" fmla="val 34285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2000" b="1" lang="ar-SA">
                <a:solidFill>
                  <a:srgbClr val="9A6A7A"/>
                </a:solidFill>
                <a:latin typeface="Arial"/>
                <a:cs typeface="Arial"/>
              </a:rPr>
              <a:t>اسمُ مفعولٍ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0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81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9"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8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8"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85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7"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8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6"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7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93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6"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</p:cTn>
                                        <p:tgtEl>
                                          <p:sndTgt r:embed="rId7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95"/>
                  </p:tgtEl>
                </p:cond>
              </p:nextCondLst>
            </p:seq>
          </p:childTnLst>
        </p:cTn>
      </p:par>
    </p:tnLst>
    <p:bldLst>
      <p:bldP spid="82" grpId="0" animBg="1"/>
      <p:bldP spid="84" grpId="0" animBg="1"/>
      <p:bldP spid="86" grpId="0" animBg="1"/>
      <p:bldP spid="88" grpId="0" animBg="1"/>
      <p:bldP spid="94" grpId="0" animBg="1"/>
      <p:bldP spid="90" grpId="0" animBg="1"/>
      <p:bldP spid="96" grpId="0" animBg="1"/>
      <p:bldP spid="91" grpId="0" animBg="1"/>
    </p:bldLst>
  </p:timing>
  <p:transition spd="med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أهدافُ الدَّرسِ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🎯 أهدافُنا اليوم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٣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37500" y="2095500"/>
            <a:ext cx="3048000" cy="2984500"/>
          </a:xfrm>
          <a:prstGeom prst="roundRect">
            <a:avLst>
              <a:gd name="adj" fmla="val 7234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5400" b="1" lang="ar-SA">
                <a:solidFill>
                  <a:srgbClr val="2D1F4A"/>
                </a:solidFill>
                <a:latin typeface="Arial"/>
                <a:cs typeface="Arial"/>
              </a:rPr>
              <a:t>📘</a:t>
            </a:r>
          </a:p>
          <a:p>
            <a:pPr algn="ctr" rtl="1"/>
          </a:p>
          <a:p>
            <a:pPr algn="ctr" rtl="1"/>
            <a:r>
              <a:rPr sz="2700" b="1" lang="ar-SA">
                <a:solidFill>
                  <a:srgbClr val="2D1F4A"/>
                </a:solidFill>
                <a:latin typeface="Arial"/>
                <a:cs typeface="Arial"/>
              </a:rPr>
              <a:t>أُعرِّفُ اسمَ الآلةِ.</a:t>
            </a:r>
          </a:p>
        </p:txBody>
      </p:sp>
      <p:sp>
        <p:nvSpPr>
          <p:cNvPr id="10" name="Oval 9"/>
          <p:cNvSpPr/>
          <p:nvPr/>
        </p:nvSpPr>
        <p:spPr>
          <a:xfrm>
            <a:off x="9220200" y="1854200"/>
            <a:ext cx="482600" cy="482600"/>
          </a:xfrm>
          <a:prstGeom prst="ellipse">
            <a:avLst/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3B2263"/>
                </a:solidFill>
                <a:latin typeface="Arial"/>
                <a:cs typeface="Arial"/>
              </a:rPr>
              <a:t>١</a:t>
            </a:r>
          </a:p>
        </p:txBody>
      </p:sp>
      <p:sp>
        <p:nvSpPr>
          <p:cNvPr id="11" name="Oval 10"/>
          <p:cNvSpPr/>
          <p:nvPr/>
        </p:nvSpPr>
        <p:spPr>
          <a:xfrm>
            <a:off x="10401300" y="2209800"/>
            <a:ext cx="444500" cy="444500"/>
          </a:xfrm>
          <a:prstGeom prst="ellipse">
            <a:avLst/>
          </a:prstGeom>
          <a:solidFill>
            <a:srgbClr val="239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095500"/>
            <a:ext cx="3048000" cy="2984500"/>
          </a:xfrm>
          <a:prstGeom prst="roundRect">
            <a:avLst>
              <a:gd name="adj" fmla="val 7234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5400" b="1" lang="ar-SA">
                <a:solidFill>
                  <a:srgbClr val="2D1F4A"/>
                </a:solidFill>
                <a:latin typeface="Arial"/>
                <a:cs typeface="Arial"/>
              </a:rPr>
              <a:t>🌳</a:t>
            </a:r>
          </a:p>
          <a:p>
            <a:pPr algn="ctr" rtl="1"/>
          </a:p>
          <a:p>
            <a:pPr algn="ctr" rtl="1"/>
            <a:r>
              <a:rPr sz="2700" b="1" lang="ar-SA">
                <a:solidFill>
                  <a:srgbClr val="2D1F4A"/>
                </a:solidFill>
                <a:latin typeface="Arial"/>
                <a:cs typeface="Arial"/>
              </a:rPr>
              <a:t>أُقارِنُ بينَ نوعَيِ اسمِ الآلةِ.</a:t>
            </a:r>
          </a:p>
        </p:txBody>
      </p:sp>
      <p:sp>
        <p:nvSpPr>
          <p:cNvPr id="13" name="Oval 12"/>
          <p:cNvSpPr/>
          <p:nvPr/>
        </p:nvSpPr>
        <p:spPr>
          <a:xfrm>
            <a:off x="5854700" y="1854200"/>
            <a:ext cx="482600" cy="482600"/>
          </a:xfrm>
          <a:prstGeom prst="ellipse">
            <a:avLst/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3B2263"/>
                </a:solidFill>
                <a:latin typeface="Arial"/>
                <a:cs typeface="Arial"/>
              </a:rPr>
              <a:t>٢</a:t>
            </a:r>
          </a:p>
        </p:txBody>
      </p:sp>
      <p:sp>
        <p:nvSpPr>
          <p:cNvPr id="14" name="Oval 13"/>
          <p:cNvSpPr/>
          <p:nvPr/>
        </p:nvSpPr>
        <p:spPr>
          <a:xfrm>
            <a:off x="7035800" y="2209800"/>
            <a:ext cx="444500" cy="444500"/>
          </a:xfrm>
          <a:prstGeom prst="ellipse">
            <a:avLst/>
          </a:prstGeom>
          <a:solidFill>
            <a:srgbClr val="239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6500" y="2095500"/>
            <a:ext cx="3048000" cy="2984500"/>
          </a:xfrm>
          <a:prstGeom prst="roundRect">
            <a:avLst>
              <a:gd name="adj" fmla="val 7234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5400" b="1" lang="ar-SA">
                <a:solidFill>
                  <a:srgbClr val="2D1F4A"/>
                </a:solidFill>
                <a:latin typeface="Arial"/>
                <a:cs typeface="Arial"/>
              </a:rPr>
              <a:t>🔍</a:t>
            </a:r>
          </a:p>
          <a:p>
            <a:pPr algn="ctr" rtl="1"/>
          </a:p>
          <a:p>
            <a:pPr algn="ctr" rtl="1"/>
            <a:r>
              <a:rPr sz="2700" b="1" lang="ar-SA">
                <a:solidFill>
                  <a:srgbClr val="2D1F4A"/>
                </a:solidFill>
                <a:latin typeface="Arial"/>
                <a:cs typeface="Arial"/>
              </a:rPr>
              <a:t>أُميِّزُ بينَ اسمِ الآلةِ وغيرِه منَ المُشتقّاتِ.</a:t>
            </a:r>
          </a:p>
        </p:txBody>
      </p:sp>
      <p:sp>
        <p:nvSpPr>
          <p:cNvPr id="16" name="Oval 15"/>
          <p:cNvSpPr/>
          <p:nvPr/>
        </p:nvSpPr>
        <p:spPr>
          <a:xfrm>
            <a:off x="2489200" y="1854200"/>
            <a:ext cx="482600" cy="482600"/>
          </a:xfrm>
          <a:prstGeom prst="ellipse">
            <a:avLst/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3B2263"/>
                </a:solidFill>
                <a:latin typeface="Arial"/>
                <a:cs typeface="Arial"/>
              </a:rPr>
              <a:t>٣</a:t>
            </a:r>
          </a:p>
        </p:txBody>
      </p:sp>
      <p:sp>
        <p:nvSpPr>
          <p:cNvPr id="17" name="Oval 16"/>
          <p:cNvSpPr/>
          <p:nvPr/>
        </p:nvSpPr>
        <p:spPr>
          <a:xfrm>
            <a:off x="3670300" y="2209800"/>
            <a:ext cx="444500" cy="444500"/>
          </a:xfrm>
          <a:prstGeom prst="ellipse">
            <a:avLst/>
          </a:prstGeom>
          <a:solidFill>
            <a:srgbClr val="239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461000"/>
            <a:ext cx="7620000" cy="381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1700" b="1" lang="ar-SA">
                <a:solidFill>
                  <a:srgbClr val="9A7FD6"/>
                </a:solidFill>
                <a:latin typeface="Arial"/>
                <a:cs typeface="Arial"/>
              </a:rPr>
              <a:t>بعد تحقُّقِ الهدفِ اضغطي على بطاقتِه 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3"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2"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2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1"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1" grpId="0" animBg="1"/>
      <p:bldP spid="14" grpId="0" animBg="1"/>
      <p:bldP spid="17" grpId="0" animBg="1"/>
    </p:bldLst>
  </p:timing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لُغزُ اليومِ.. مَن أنا؟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🔮 ماذا تتوقّعين؟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٤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4500" y="1365250"/>
            <a:ext cx="3302000" cy="3556000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5100" rIns="165100" tIns="82550" bIns="82550">
            <a:noAutofit/>
          </a:bodyPr>
          <a:lstStyle/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أداةٌ أفتحُ بها البابَ</a:t>
            </a:r>
          </a:p>
        </p:txBody>
      </p:sp>
      <p:sp>
        <p:nvSpPr>
          <p:cNvPr id="10" name="Oval 9"/>
          <p:cNvSpPr/>
          <p:nvPr/>
        </p:nvSpPr>
        <p:spPr>
          <a:xfrm>
            <a:off x="9112250" y="2095500"/>
            <a:ext cx="1206500" cy="1206500"/>
          </a:xfrm>
          <a:prstGeom prst="ellipse">
            <a:avLst/>
          </a:prstGeom>
          <a:solidFill>
            <a:srgbClr val="FDF0C2"/>
          </a:solidFill>
          <a:ln w="50800">
            <a:solidFill>
              <a:srgbClr val="F2CB4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6000" b="1" lang="ar-SA">
                <a:solidFill>
                  <a:srgbClr val="7D5BB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7000" y="2032000"/>
            <a:ext cx="1397000" cy="1333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8000" b="1" lang="ar-SA">
                <a:solidFill>
                  <a:srgbClr val="2D1F4A"/>
                </a:solidFill>
                <a:latin typeface="Arial"/>
                <a:cs typeface="Arial"/>
              </a:rPr>
              <a:t>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3556000"/>
            <a:ext cx="3048000" cy="635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3600" b="1" lang="ar-SA">
                <a:solidFill>
                  <a:srgbClr val="4F2F86"/>
                </a:solidFill>
                <a:latin typeface="Arial"/>
                <a:cs typeface="Arial"/>
              </a:rPr>
              <a:t>مِفْتَاح</a:t>
            </a:r>
          </a:p>
          <a:p>
            <a:pPr algn="ctr" rtl="1"/>
            <a:r>
              <a:rPr sz="1800" b="1" lang="ar-SA">
                <a:solidFill>
                  <a:srgbClr val="9A7FD6"/>
                </a:solidFill>
                <a:latin typeface="Arial"/>
                <a:cs typeface="Arial"/>
              </a:rPr>
              <a:t>من الفعلِ: فَتَحَ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5000" y="1365250"/>
            <a:ext cx="3302000" cy="3556000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5100" rIns="165100" tIns="82550" bIns="82550">
            <a:noAutofit/>
          </a:bodyPr>
          <a:lstStyle/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أداةٌ أكنُسُ بها الغرفةَ</a:t>
            </a:r>
          </a:p>
        </p:txBody>
      </p:sp>
      <p:sp>
        <p:nvSpPr>
          <p:cNvPr id="14" name="Oval 13"/>
          <p:cNvSpPr/>
          <p:nvPr/>
        </p:nvSpPr>
        <p:spPr>
          <a:xfrm>
            <a:off x="5492750" y="2095500"/>
            <a:ext cx="1206500" cy="1206500"/>
          </a:xfrm>
          <a:prstGeom prst="ellipse">
            <a:avLst/>
          </a:prstGeom>
          <a:solidFill>
            <a:srgbClr val="FDF0C2"/>
          </a:solidFill>
          <a:ln w="50800">
            <a:solidFill>
              <a:srgbClr val="F2CB4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6000" b="1" lang="ar-SA">
                <a:solidFill>
                  <a:srgbClr val="7D5BB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7500" y="2032000"/>
            <a:ext cx="1397000" cy="1333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8000" b="1" lang="ar-SA">
                <a:solidFill>
                  <a:srgbClr val="2D1F4A"/>
                </a:solidFill>
                <a:latin typeface="Arial"/>
                <a:cs typeface="Arial"/>
              </a:rPr>
              <a:t>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56000"/>
            <a:ext cx="3048000" cy="635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3600" b="1" lang="ar-SA">
                <a:solidFill>
                  <a:srgbClr val="4F2F86"/>
                </a:solidFill>
                <a:latin typeface="Arial"/>
                <a:cs typeface="Arial"/>
              </a:rPr>
              <a:t>مِكْنَسَة</a:t>
            </a:r>
          </a:p>
          <a:p>
            <a:pPr algn="ctr" rtl="1"/>
            <a:r>
              <a:rPr sz="1800" b="1" lang="ar-SA">
                <a:solidFill>
                  <a:srgbClr val="9A7FD6"/>
                </a:solidFill>
                <a:latin typeface="Arial"/>
                <a:cs typeface="Arial"/>
              </a:rPr>
              <a:t>من الفعلِ: كَنَسَ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500" y="1365250"/>
            <a:ext cx="3302000" cy="3556000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5100" rIns="165100" tIns="82550" bIns="82550">
            <a:noAutofit/>
          </a:bodyPr>
          <a:lstStyle/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أداةٌ أنظرُ بها إلى البعيدِ</a:t>
            </a:r>
          </a:p>
        </p:txBody>
      </p:sp>
      <p:sp>
        <p:nvSpPr>
          <p:cNvPr id="18" name="Oval 17"/>
          <p:cNvSpPr/>
          <p:nvPr/>
        </p:nvSpPr>
        <p:spPr>
          <a:xfrm>
            <a:off x="1873250" y="2095500"/>
            <a:ext cx="1206500" cy="1206500"/>
          </a:xfrm>
          <a:prstGeom prst="ellipse">
            <a:avLst/>
          </a:prstGeom>
          <a:solidFill>
            <a:srgbClr val="FDF0C2"/>
          </a:solidFill>
          <a:ln w="50800">
            <a:solidFill>
              <a:srgbClr val="F2CB4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6000" b="1" lang="ar-SA">
                <a:solidFill>
                  <a:srgbClr val="7D5BBF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8000" y="2032000"/>
            <a:ext cx="1397000" cy="1333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8000" b="1" lang="ar-SA">
                <a:solidFill>
                  <a:srgbClr val="2D1F4A"/>
                </a:solidFill>
                <a:latin typeface="Arial"/>
                <a:cs typeface="Arial"/>
              </a:rPr>
              <a:t>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3556000"/>
            <a:ext cx="3048000" cy="635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3600" b="1" lang="ar-SA">
                <a:solidFill>
                  <a:srgbClr val="4F2F86"/>
                </a:solidFill>
                <a:latin typeface="Arial"/>
                <a:cs typeface="Arial"/>
              </a:rPr>
              <a:t>مِنْظَار</a:t>
            </a:r>
          </a:p>
          <a:p>
            <a:pPr algn="ctr" rtl="1"/>
            <a:r>
              <a:rPr sz="1800" b="1" lang="ar-SA">
                <a:solidFill>
                  <a:srgbClr val="9A7FD6"/>
                </a:solidFill>
                <a:latin typeface="Arial"/>
                <a:cs typeface="Arial"/>
              </a:rPr>
              <a:t>من الفعلِ: نَظَرَ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73500" y="5111750"/>
            <a:ext cx="4445000" cy="5080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🤔 ما الذي يجمعُ هذه الكلماتِ؟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0500" y="5016500"/>
            <a:ext cx="92710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كلُّها </a:t>
            </a:r>
            <a:r>
              <a:rPr sz="2300" b="1" lang="ar-SA">
                <a:solidFill>
                  <a:srgbClr val="D6336C"/>
                </a:solidFill>
                <a:latin typeface="Arial"/>
                <a:cs typeface="Arial"/>
              </a:rPr>
              <a:t>أدواتٌ</a:t>
            </a:r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 نؤدّي بها أفعالًا.. إنّها موضوعُ درسِنا: </a:t>
            </a:r>
            <a:r>
              <a:rPr sz="2300" b="1" lang="ar-SA">
                <a:solidFill>
                  <a:srgbClr val="D6336C"/>
                </a:solidFill>
                <a:latin typeface="Arial"/>
                <a:cs typeface="Arial"/>
              </a:rPr>
              <a:t>اسمُ الآلةِ</a:t>
            </a:r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 🛠️</a:t>
            </a:r>
          </a:p>
        </p:txBody>
      </p:sp>
      <p:pic>
        <p:nvPicPr>
          <p:cNvPr id="23" name="Picture 22" descr="confet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1206500"/>
            <a:ext cx="10795000" cy="444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"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0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0"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4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7"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1"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</p:bldLst>
  </p:timing>
  <p:transition spd="med">
    <p:zoom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يومٌ في حياةِ نُورةَ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👀 لاحظي واكتشفي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٥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500" y="1333500"/>
            <a:ext cx="10541000" cy="215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127000" bIns="127000">
            <a:noAutofit/>
          </a:bodyPr>
          <a:lstStyle/>
          <a:p>
            <a:pPr algn="r" rtl="1">
              <a:lnSpc>
                <a:spcPct val="135000"/>
              </a:lnSpc>
            </a:pPr>
            <a:r>
              <a:rPr sz="2700" b="1" lang="ar-SA">
                <a:solidFill>
                  <a:srgbClr val="2D1F4A"/>
                </a:solidFill>
                <a:latin typeface="Arial"/>
                <a:cs typeface="Arial"/>
              </a:rPr>
              <a:t>اسْتَيْقَظَتْ نُورَةُ، وَأَضَاءَتِ الكَشَّافَ؛ لِتَنْظُرَ لِلسَّاعَةِ، وَفَتَحَتِ البَابَ بِالمِفْتَاحِ، وَوَضَعَتِ المِسْطَرَةَ فِي الحَقِيبَةِ، وَطَبَعَتِ الوَرَقَةَ بِالطَّابِعَةِ. ثُمَّ خَرَجَتْ إِلَى الفِنَاءِ، وَاسْتَمْتَعَتْ بِمَنْظَرِ النَّافُورَةِ.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0" y="3619500"/>
            <a:ext cx="3175000" cy="3556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1900" b="1" lang="ar-SA">
                <a:solidFill>
                  <a:srgbClr val="6A45A8"/>
                </a:solidFill>
                <a:latin typeface="Arial"/>
                <a:cs typeface="Arial"/>
              </a:rPr>
              <a:t>ابحثي عن </a:t>
            </a:r>
            <a:r>
              <a:rPr sz="1900" b="1" lang="ar-SA">
                <a:solidFill>
                  <a:srgbClr val="D6336C"/>
                </a:solidFill>
                <a:latin typeface="Arial"/>
                <a:cs typeface="Arial"/>
              </a:rPr>
              <a:t>الأدواتِ</a:t>
            </a:r>
            <a:r>
              <a:rPr sz="1900" b="1" lang="ar-SA">
                <a:solidFill>
                  <a:srgbClr val="6A45A8"/>
                </a:solidFill>
                <a:latin typeface="Arial"/>
                <a:cs typeface="Arial"/>
              </a:rPr>
              <a:t> في القصّة 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98000" y="4064000"/>
            <a:ext cx="1968500" cy="6096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7D5BBF"/>
                </a:solidFill>
                <a:latin typeface="Arial"/>
                <a:cs typeface="Arial"/>
              </a:rPr>
              <a:t>🔍 أداة 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98000" y="4064000"/>
            <a:ext cx="1968500" cy="609600"/>
          </a:xfrm>
          <a:prstGeom prst="roundRect">
            <a:avLst>
              <a:gd name="adj" fmla="val 50000"/>
            </a:avLst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🔦 الكشّاف</a:t>
            </a:r>
          </a:p>
          <a:p>
            <a:pPr algn="ctr" rtl="1"/>
            <a:r>
              <a:rPr sz="1600" b="1" lang="ar-SA">
                <a:solidFill>
                  <a:srgbClr val="6A45A8"/>
                </a:solidFill>
                <a:latin typeface="Arial"/>
                <a:cs typeface="Arial"/>
              </a:rPr>
              <a:t>من الفعل: كَشَفَ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58050" y="4064000"/>
            <a:ext cx="1968500" cy="6096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7D5BBF"/>
                </a:solidFill>
                <a:latin typeface="Arial"/>
                <a:cs typeface="Arial"/>
              </a:rPr>
              <a:t>🔍 أداة 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8050" y="4064000"/>
            <a:ext cx="1968500" cy="609600"/>
          </a:xfrm>
          <a:prstGeom prst="roundRect">
            <a:avLst>
              <a:gd name="adj" fmla="val 50000"/>
            </a:avLst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🔑 المِفتاح</a:t>
            </a:r>
          </a:p>
          <a:p>
            <a:pPr algn="ctr" rtl="1"/>
            <a:r>
              <a:rPr sz="1600" b="1" lang="ar-SA">
                <a:solidFill>
                  <a:srgbClr val="6A45A8"/>
                </a:solidFill>
                <a:latin typeface="Arial"/>
                <a:cs typeface="Arial"/>
              </a:rPr>
              <a:t>من الفعل: فَتَحَ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8100" y="4064000"/>
            <a:ext cx="1968500" cy="6096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7D5BBF"/>
                </a:solidFill>
                <a:latin typeface="Arial"/>
                <a:cs typeface="Arial"/>
              </a:rPr>
              <a:t>🔍 أداة 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8100" y="4064000"/>
            <a:ext cx="1968500" cy="609600"/>
          </a:xfrm>
          <a:prstGeom prst="roundRect">
            <a:avLst>
              <a:gd name="adj" fmla="val 50000"/>
            </a:avLst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📏 المِسطرة</a:t>
            </a:r>
          </a:p>
          <a:p>
            <a:pPr algn="ctr" rtl="1"/>
            <a:r>
              <a:rPr sz="1600" b="1" lang="ar-SA">
                <a:solidFill>
                  <a:srgbClr val="6A45A8"/>
                </a:solidFill>
                <a:latin typeface="Arial"/>
                <a:cs typeface="Arial"/>
              </a:rPr>
              <a:t>من الفعل: سَطَرَ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8150" y="4064000"/>
            <a:ext cx="1968500" cy="6096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7D5BBF"/>
                </a:solidFill>
                <a:latin typeface="Arial"/>
                <a:cs typeface="Arial"/>
              </a:rPr>
              <a:t>🔍 أداة 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8150" y="4064000"/>
            <a:ext cx="1968500" cy="609600"/>
          </a:xfrm>
          <a:prstGeom prst="roundRect">
            <a:avLst>
              <a:gd name="adj" fmla="val 50000"/>
            </a:avLst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🖨️ الطابعة</a:t>
            </a:r>
          </a:p>
          <a:p>
            <a:pPr algn="ctr" rtl="1"/>
            <a:r>
              <a:rPr sz="1600" b="1" lang="ar-SA">
                <a:solidFill>
                  <a:srgbClr val="6A45A8"/>
                </a:solidFill>
                <a:latin typeface="Arial"/>
                <a:cs typeface="Arial"/>
              </a:rPr>
              <a:t>من الفعل: طَبَعَ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200" y="4064000"/>
            <a:ext cx="1968500" cy="6096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7D5BBF"/>
                </a:solidFill>
                <a:latin typeface="Arial"/>
                <a:cs typeface="Arial"/>
              </a:rPr>
              <a:t>🔍 أداة 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4064000"/>
            <a:ext cx="1968500" cy="609600"/>
          </a:xfrm>
          <a:prstGeom prst="roundRect">
            <a:avLst>
              <a:gd name="adj" fmla="val 50000"/>
            </a:avLst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⛲ النافورة</a:t>
            </a:r>
          </a:p>
          <a:p>
            <a:pPr algn="ctr" rtl="1"/>
            <a:r>
              <a:rPr sz="1600" b="1" lang="ar-SA">
                <a:solidFill>
                  <a:srgbClr val="6A45A8"/>
                </a:solidFill>
                <a:latin typeface="Arial"/>
                <a:cs typeface="Arial"/>
              </a:rPr>
              <a:t>من الفعل: نَفَرَ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26000" y="5016500"/>
            <a:ext cx="2540000" cy="4826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FFFFFF"/>
                </a:solidFill>
                <a:latin typeface="Arial"/>
                <a:cs typeface="Arial"/>
              </a:rPr>
              <a:t>✨ ماذا لاحظتِ؟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4857750"/>
            <a:ext cx="9906000" cy="1270000"/>
          </a:xfrm>
          <a:prstGeom prst="roundRect">
            <a:avLst>
              <a:gd name="adj" fmla="val 15000"/>
            </a:avLst>
          </a:prstGeom>
          <a:solidFill>
            <a:srgbClr val="FFF9E3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لاحظي: كلمةُ (مِفْتَاح) أُخِذَتْ من الفعلِ (فَتَحَ) للدّلالةِ على </a:t>
            </a:r>
            <a:r>
              <a:rPr sz="2300" b="1" lang="ar-SA">
                <a:solidFill>
                  <a:srgbClr val="D6336C"/>
                </a:solidFill>
                <a:latin typeface="Arial"/>
                <a:cs typeface="Arial"/>
              </a:rPr>
              <a:t>الأداةِ</a:t>
            </a:r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 التي يُؤدّى بها الفعلُ، وتُسمّى </a:t>
            </a:r>
            <a:r>
              <a:rPr sz="2300" b="1" lang="ar-SA">
                <a:solidFill>
                  <a:srgbClr val="D6336C"/>
                </a:solidFill>
                <a:latin typeface="Arial"/>
                <a:cs typeface="Arial"/>
              </a:rPr>
              <a:t>اسمَ الآلةِ</a:t>
            </a:r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 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"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5"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7"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9"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1"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9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70"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</p:bldLst>
  </p:timing>
  <p:transition spd="med">
    <p:push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أكمِلي الجملةَ..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✏️ أبني تعلُّمي الجديد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٦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500" y="1333500"/>
            <a:ext cx="10541000" cy="711200"/>
          </a:xfrm>
          <a:prstGeom prst="roundRect">
            <a:avLst>
              <a:gd name="adj" fmla="val 26785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0" name="TextBox 9"/>
          <p:cNvSpPr txBox="1"/>
          <p:nvPr/>
        </p:nvSpPr>
        <p:spPr>
          <a:xfrm>
            <a:off x="10668000" y="1397000"/>
            <a:ext cx="571500" cy="5842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1397000"/>
            <a:ext cx="4318000" cy="5842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أفتحُ البابَ بـ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8000" y="1447800"/>
            <a:ext cx="1905000" cy="482600"/>
          </a:xfrm>
          <a:prstGeom prst="roundRect">
            <a:avLst>
              <a:gd name="adj" fmla="val 28947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8000" y="1447800"/>
            <a:ext cx="1905000" cy="482600"/>
          </a:xfrm>
          <a:prstGeom prst="roundRect">
            <a:avLst>
              <a:gd name="adj" fmla="val 28947"/>
            </a:avLst>
          </a:prstGeom>
          <a:solidFill>
            <a:srgbClr val="E2F6EA"/>
          </a:solidFill>
          <a:ln w="254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23945E"/>
                </a:solidFill>
                <a:latin typeface="Arial"/>
                <a:cs typeface="Arial"/>
              </a:rPr>
              <a:t>المِفْتَاحِ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9500" y="1473200"/>
            <a:ext cx="2794000" cy="4318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على وزنِ: </a:t>
            </a:r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مِ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ا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5500" y="2146300"/>
            <a:ext cx="10541000" cy="711200"/>
          </a:xfrm>
          <a:prstGeom prst="roundRect">
            <a:avLst>
              <a:gd name="adj" fmla="val 26785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6" name="TextBox 15"/>
          <p:cNvSpPr txBox="1"/>
          <p:nvPr/>
        </p:nvSpPr>
        <p:spPr>
          <a:xfrm>
            <a:off x="10668000" y="2209800"/>
            <a:ext cx="571500" cy="5842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2209800"/>
            <a:ext cx="4318000" cy="5842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آكلُ الطعامَ بـ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8000" y="2260600"/>
            <a:ext cx="1905000" cy="482600"/>
          </a:xfrm>
          <a:prstGeom prst="roundRect">
            <a:avLst>
              <a:gd name="adj" fmla="val 28947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8000" y="2260600"/>
            <a:ext cx="1905000" cy="482600"/>
          </a:xfrm>
          <a:prstGeom prst="roundRect">
            <a:avLst>
              <a:gd name="adj" fmla="val 28947"/>
            </a:avLst>
          </a:prstGeom>
          <a:solidFill>
            <a:srgbClr val="E2F6EA"/>
          </a:solidFill>
          <a:ln w="254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23945E"/>
                </a:solidFill>
                <a:latin typeface="Arial"/>
                <a:cs typeface="Arial"/>
              </a:rPr>
              <a:t>المِلْعَقَةِ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9500" y="2286000"/>
            <a:ext cx="2794000" cy="4318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على وزنِ: </a:t>
            </a:r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مِ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500" y="2959100"/>
            <a:ext cx="10541000" cy="711200"/>
          </a:xfrm>
          <a:prstGeom prst="roundRect">
            <a:avLst>
              <a:gd name="adj" fmla="val 26785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2" name="TextBox 21"/>
          <p:cNvSpPr txBox="1"/>
          <p:nvPr/>
        </p:nvSpPr>
        <p:spPr>
          <a:xfrm>
            <a:off x="10668000" y="3022600"/>
            <a:ext cx="571500" cy="5842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3022600"/>
            <a:ext cx="4318000" cy="5842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أستمعُ للإذاعةِ بـ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8000" y="3073400"/>
            <a:ext cx="1905000" cy="482600"/>
          </a:xfrm>
          <a:prstGeom prst="roundRect">
            <a:avLst>
              <a:gd name="adj" fmla="val 28947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8000" y="3073400"/>
            <a:ext cx="1905000" cy="482600"/>
          </a:xfrm>
          <a:prstGeom prst="roundRect">
            <a:avLst>
              <a:gd name="adj" fmla="val 28947"/>
            </a:avLst>
          </a:prstGeom>
          <a:solidFill>
            <a:srgbClr val="E2F6EA"/>
          </a:solidFill>
          <a:ln w="254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23945E"/>
                </a:solidFill>
                <a:latin typeface="Arial"/>
                <a:cs typeface="Arial"/>
              </a:rPr>
              <a:t>المِذْيَاعِ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9500" y="3098800"/>
            <a:ext cx="2794000" cy="4318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على وزنِ: </a:t>
            </a:r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مِ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ا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500" y="3771900"/>
            <a:ext cx="10541000" cy="711200"/>
          </a:xfrm>
          <a:prstGeom prst="roundRect">
            <a:avLst>
              <a:gd name="adj" fmla="val 26785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8" name="TextBox 27"/>
          <p:cNvSpPr txBox="1"/>
          <p:nvPr/>
        </p:nvSpPr>
        <p:spPr>
          <a:xfrm>
            <a:off x="10668000" y="3835400"/>
            <a:ext cx="571500" cy="5842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0" y="3835400"/>
            <a:ext cx="4318000" cy="5842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صعدتُ للطابقِ الأخيرِ بـ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8000" y="3886200"/>
            <a:ext cx="1905000" cy="482600"/>
          </a:xfrm>
          <a:prstGeom prst="roundRect">
            <a:avLst>
              <a:gd name="adj" fmla="val 28947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8000" y="3886200"/>
            <a:ext cx="1905000" cy="482600"/>
          </a:xfrm>
          <a:prstGeom prst="roundRect">
            <a:avLst>
              <a:gd name="adj" fmla="val 28947"/>
            </a:avLst>
          </a:prstGeom>
          <a:solidFill>
            <a:srgbClr val="E2F6EA"/>
          </a:solidFill>
          <a:ln w="254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23945E"/>
                </a:solidFill>
                <a:latin typeface="Arial"/>
                <a:cs typeface="Arial"/>
              </a:rPr>
              <a:t>المِصْعَدِ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9500" y="3911600"/>
            <a:ext cx="2794000" cy="4318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على وزنِ: </a:t>
            </a:r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مِ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5500" y="4584700"/>
            <a:ext cx="10541000" cy="711200"/>
          </a:xfrm>
          <a:prstGeom prst="roundRect">
            <a:avLst>
              <a:gd name="adj" fmla="val 26785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4" name="TextBox 33"/>
          <p:cNvSpPr txBox="1"/>
          <p:nvPr/>
        </p:nvSpPr>
        <p:spPr>
          <a:xfrm>
            <a:off x="10668000" y="4648200"/>
            <a:ext cx="571500" cy="5842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0000" y="4648200"/>
            <a:ext cx="4318000" cy="5842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أحُلُّ مسائلَ الرياضيّاتِ باستخدامِ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18000" y="4699000"/>
            <a:ext cx="1905000" cy="482600"/>
          </a:xfrm>
          <a:prstGeom prst="roundRect">
            <a:avLst>
              <a:gd name="adj" fmla="val 28947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18000" y="4699000"/>
            <a:ext cx="1905000" cy="482600"/>
          </a:xfrm>
          <a:prstGeom prst="roundRect">
            <a:avLst>
              <a:gd name="adj" fmla="val 28947"/>
            </a:avLst>
          </a:prstGeom>
          <a:solidFill>
            <a:srgbClr val="E2F6EA"/>
          </a:solidFill>
          <a:ln w="254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23945E"/>
                </a:solidFill>
                <a:latin typeface="Arial"/>
                <a:cs typeface="Arial"/>
              </a:rPr>
              <a:t>الحَاسِبَةِ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9500" y="4724400"/>
            <a:ext cx="2794000" cy="4318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على وزنِ: 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ا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عِ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26000" y="5492750"/>
            <a:ext cx="2540000" cy="4572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3B2263"/>
                </a:solidFill>
                <a:latin typeface="Arial"/>
                <a:cs typeface="Arial"/>
              </a:rPr>
              <a:t>💡 ماذا تُسمّى؟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448300"/>
            <a:ext cx="7620000" cy="5461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800" b="1" lang="ar-SA">
                <a:solidFill>
                  <a:srgbClr val="4F2F86"/>
                </a:solidFill>
                <a:latin typeface="Arial"/>
                <a:cs typeface="Arial"/>
              </a:rPr>
              <a:t>وهذهِ الأسماءُ تُسمّى 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اسمَ الآلةِ</a:t>
            </a:r>
            <a:r>
              <a:rPr sz="2800" b="1" lang="ar-SA">
                <a:solidFill>
                  <a:srgbClr val="4F2F86"/>
                </a:solidFill>
                <a:latin typeface="Arial"/>
                <a:cs typeface="Arial"/>
              </a:rPr>
              <a:t> 🛠️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"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2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0"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8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7"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4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4"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0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1"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6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98"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  <p:bldP spid="30" grpId="0" animBg="1"/>
      <p:bldP spid="31" grpId="0" animBg="1"/>
      <p:bldP spid="32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  <p:transition spd="med">
    <p:push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آلاتٌ تبني وطني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🇸🇦 ربطٌ بالوطن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٧ / ٢٤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1244600"/>
            <a:ext cx="8890000" cy="406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في وطني الغالي آلاتٌ تصنعُ الإنجازَ.. ما اسمُ كلِّ آلةٍ؟ 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746250"/>
            <a:ext cx="3365500" cy="18097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1" name="Rounded Rectangle 10"/>
          <p:cNvSpPr/>
          <p:nvPr/>
        </p:nvSpPr>
        <p:spPr>
          <a:xfrm>
            <a:off x="8572500" y="1860550"/>
            <a:ext cx="2222500" cy="330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7D5BBF"/>
                </a:solidFill>
                <a:latin typeface="Arial"/>
                <a:cs typeface="Arial"/>
              </a:rPr>
              <a:t>🛢️ حقولُ النفطِ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0" y="2241550"/>
            <a:ext cx="31750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400" b="1" lang="ar-SA">
                <a:solidFill>
                  <a:srgbClr val="2D1F4A"/>
                </a:solidFill>
                <a:latin typeface="Arial"/>
                <a:cs typeface="Arial"/>
              </a:rPr>
              <a:t>تُحفَرُ آبارُ النفطِ بـ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5000" y="2889250"/>
            <a:ext cx="1651000" cy="495300"/>
          </a:xfrm>
          <a:prstGeom prst="roundRect">
            <a:avLst>
              <a:gd name="adj" fmla="val 28205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5000" y="2889250"/>
            <a:ext cx="1651000" cy="495300"/>
          </a:xfrm>
          <a:prstGeom prst="roundRect">
            <a:avLst>
              <a:gd name="adj" fmla="val 28205"/>
            </a:avLst>
          </a:prstGeom>
          <a:solidFill>
            <a:srgbClr val="E2F6EA"/>
          </a:solidFill>
          <a:ln w="254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23945E"/>
                </a:solidFill>
                <a:latin typeface="Arial"/>
                <a:cs typeface="Arial"/>
              </a:rPr>
              <a:t>الحَفَّارَةِ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9750" y="2921000"/>
            <a:ext cx="1333500" cy="4318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عَّ</a:t>
            </a:r>
            <a:r>
              <a:rPr sz="2100" b="1" lang="ar-SA">
                <a:solidFill>
                  <a:srgbClr val="6A45A8"/>
                </a:solidFill>
                <a:latin typeface="Arial"/>
                <a:cs typeface="Arial"/>
              </a:rPr>
              <a:t>ا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2100" b="1" lang="ar-SA">
                <a:solidFill>
                  <a:srgbClr val="6A45A8"/>
                </a:solidFill>
                <a:latin typeface="Arial"/>
                <a:cs typeface="Arial"/>
              </a:rPr>
              <a:t>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3250" y="1746250"/>
            <a:ext cx="3365500" cy="18097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7" name="Rounded Rectangle 16"/>
          <p:cNvSpPr/>
          <p:nvPr/>
        </p:nvSpPr>
        <p:spPr>
          <a:xfrm>
            <a:off x="4984750" y="1860550"/>
            <a:ext cx="2222500" cy="330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7D5BBF"/>
                </a:solidFill>
                <a:latin typeface="Arial"/>
                <a:cs typeface="Arial"/>
              </a:rPr>
              <a:t>🌴 مزارعُ القصيمِ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8500" y="2241550"/>
            <a:ext cx="31750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400" b="1" lang="ar-SA">
                <a:solidFill>
                  <a:srgbClr val="2D1F4A"/>
                </a:solidFill>
                <a:latin typeface="Arial"/>
                <a:cs typeface="Arial"/>
              </a:rPr>
              <a:t>تُحرَثُ الأرضُ الزراعيّةُ بـ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37250" y="2889250"/>
            <a:ext cx="1651000" cy="495300"/>
          </a:xfrm>
          <a:prstGeom prst="roundRect">
            <a:avLst>
              <a:gd name="adj" fmla="val 28205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37250" y="2889250"/>
            <a:ext cx="1651000" cy="495300"/>
          </a:xfrm>
          <a:prstGeom prst="roundRect">
            <a:avLst>
              <a:gd name="adj" fmla="val 28205"/>
            </a:avLst>
          </a:prstGeom>
          <a:solidFill>
            <a:srgbClr val="E2F6EA"/>
          </a:solidFill>
          <a:ln w="254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23945E"/>
                </a:solidFill>
                <a:latin typeface="Arial"/>
                <a:cs typeface="Arial"/>
              </a:rPr>
              <a:t>المِحْرَاثِ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921000"/>
            <a:ext cx="1333500" cy="4318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6A45A8"/>
                </a:solidFill>
                <a:latin typeface="Arial"/>
                <a:cs typeface="Arial"/>
              </a:rPr>
              <a:t>مِ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100" b="1" lang="ar-SA">
                <a:solidFill>
                  <a:srgbClr val="6A45A8"/>
                </a:solidFill>
                <a:latin typeface="Arial"/>
                <a:cs typeface="Arial"/>
              </a:rPr>
              <a:t>ا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500" y="1746250"/>
            <a:ext cx="3365500" cy="18097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3" name="Rounded Rectangle 22"/>
          <p:cNvSpPr/>
          <p:nvPr/>
        </p:nvSpPr>
        <p:spPr>
          <a:xfrm>
            <a:off x="1397000" y="1860550"/>
            <a:ext cx="2222500" cy="330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7D5BBF"/>
                </a:solidFill>
                <a:latin typeface="Arial"/>
                <a:cs typeface="Arial"/>
              </a:rPr>
              <a:t>🏗️ المشاريعُ الكبرى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750" y="2241550"/>
            <a:ext cx="31750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400" b="1" lang="ar-SA">
                <a:solidFill>
                  <a:srgbClr val="2D1F4A"/>
                </a:solidFill>
                <a:latin typeface="Arial"/>
                <a:cs typeface="Arial"/>
              </a:rPr>
              <a:t>تُرفَعُ الحجارةُ الثقيلةُ بـ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49500" y="2889250"/>
            <a:ext cx="1651000" cy="495300"/>
          </a:xfrm>
          <a:prstGeom prst="roundRect">
            <a:avLst>
              <a:gd name="adj" fmla="val 28205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49500" y="2889250"/>
            <a:ext cx="1651000" cy="495300"/>
          </a:xfrm>
          <a:prstGeom prst="roundRect">
            <a:avLst>
              <a:gd name="adj" fmla="val 28205"/>
            </a:avLst>
          </a:prstGeom>
          <a:solidFill>
            <a:srgbClr val="E2F6EA"/>
          </a:solidFill>
          <a:ln w="254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23945E"/>
                </a:solidFill>
                <a:latin typeface="Arial"/>
                <a:cs typeface="Arial"/>
              </a:rPr>
              <a:t>الرَّافِعَةِ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4250" y="2921000"/>
            <a:ext cx="1333500" cy="4318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2100" b="1" lang="ar-SA">
                <a:solidFill>
                  <a:srgbClr val="6A45A8"/>
                </a:solidFill>
                <a:latin typeface="Arial"/>
                <a:cs typeface="Arial"/>
              </a:rPr>
              <a:t>ا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عِ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2100" b="1" lang="ar-SA">
                <a:solidFill>
                  <a:srgbClr val="6A45A8"/>
                </a:solidFill>
                <a:latin typeface="Arial"/>
                <a:cs typeface="Arial"/>
              </a:rPr>
              <a:t>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3714750"/>
            <a:ext cx="3365500" cy="18097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9" name="Rounded Rectangle 28"/>
          <p:cNvSpPr/>
          <p:nvPr/>
        </p:nvSpPr>
        <p:spPr>
          <a:xfrm>
            <a:off x="8572500" y="3829050"/>
            <a:ext cx="2222500" cy="330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7D5BBF"/>
                </a:solidFill>
                <a:latin typeface="Arial"/>
                <a:cs typeface="Arial"/>
              </a:rPr>
              <a:t>🌊 محطّاتُ تحليةِ المياهِ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0" y="4210050"/>
            <a:ext cx="31750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400" b="1" lang="ar-SA">
                <a:solidFill>
                  <a:srgbClr val="2D1F4A"/>
                </a:solidFill>
                <a:latin typeface="Arial"/>
                <a:cs typeface="Arial"/>
              </a:rPr>
              <a:t>تُضَخُّ المياهُ إلى المدنِ بـ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25000" y="4857750"/>
            <a:ext cx="1651000" cy="495300"/>
          </a:xfrm>
          <a:prstGeom prst="roundRect">
            <a:avLst>
              <a:gd name="adj" fmla="val 28205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25000" y="4857750"/>
            <a:ext cx="1651000" cy="495300"/>
          </a:xfrm>
          <a:prstGeom prst="roundRect">
            <a:avLst>
              <a:gd name="adj" fmla="val 28205"/>
            </a:avLst>
          </a:prstGeom>
          <a:solidFill>
            <a:srgbClr val="E2F6EA"/>
          </a:solidFill>
          <a:ln w="254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23945E"/>
                </a:solidFill>
                <a:latin typeface="Arial"/>
                <a:cs typeface="Arial"/>
              </a:rPr>
              <a:t>المِضَخَّةِ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9750" y="4889500"/>
            <a:ext cx="1333500" cy="4318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6A45A8"/>
                </a:solidFill>
                <a:latin typeface="Arial"/>
                <a:cs typeface="Arial"/>
              </a:rPr>
              <a:t>مِ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2100" b="1" lang="ar-SA">
                <a:solidFill>
                  <a:srgbClr val="6A45A8"/>
                </a:solidFill>
                <a:latin typeface="Arial"/>
                <a:cs typeface="Arial"/>
              </a:rPr>
              <a:t>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3250" y="3714750"/>
            <a:ext cx="3365500" cy="18097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5" name="Rounded Rectangle 34"/>
          <p:cNvSpPr/>
          <p:nvPr/>
        </p:nvSpPr>
        <p:spPr>
          <a:xfrm>
            <a:off x="4984750" y="3829050"/>
            <a:ext cx="2222500" cy="330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7D5BBF"/>
                </a:solidFill>
                <a:latin typeface="Arial"/>
                <a:cs typeface="Arial"/>
              </a:rPr>
              <a:t>🌙 رصدُ الهلالِ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8500" y="4210050"/>
            <a:ext cx="31750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400" b="1" lang="ar-SA">
                <a:solidFill>
                  <a:srgbClr val="2D1F4A"/>
                </a:solidFill>
                <a:latin typeface="Arial"/>
                <a:cs typeface="Arial"/>
              </a:rPr>
              <a:t>يُرصَدُ هلالُ رمضانَ بـ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37250" y="4857750"/>
            <a:ext cx="1651000" cy="495300"/>
          </a:xfrm>
          <a:prstGeom prst="roundRect">
            <a:avLst>
              <a:gd name="adj" fmla="val 28205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37250" y="4857750"/>
            <a:ext cx="1651000" cy="495300"/>
          </a:xfrm>
          <a:prstGeom prst="roundRect">
            <a:avLst>
              <a:gd name="adj" fmla="val 28205"/>
            </a:avLst>
          </a:prstGeom>
          <a:solidFill>
            <a:srgbClr val="E2F6EA"/>
          </a:solidFill>
          <a:ln w="254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23945E"/>
                </a:solidFill>
                <a:latin typeface="Arial"/>
                <a:cs typeface="Arial"/>
              </a:rPr>
              <a:t>المِنْظَارِ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4889500"/>
            <a:ext cx="1333500" cy="4318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6A45A8"/>
                </a:solidFill>
                <a:latin typeface="Arial"/>
                <a:cs typeface="Arial"/>
              </a:rPr>
              <a:t>مِ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100" b="1" lang="ar-SA">
                <a:solidFill>
                  <a:srgbClr val="6A45A8"/>
                </a:solidFill>
                <a:latin typeface="Arial"/>
                <a:cs typeface="Arial"/>
              </a:rPr>
              <a:t>ا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5500" y="3714750"/>
            <a:ext cx="3365500" cy="18097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41" name="Rounded Rectangle 40"/>
          <p:cNvSpPr/>
          <p:nvPr/>
        </p:nvSpPr>
        <p:spPr>
          <a:xfrm>
            <a:off x="1397000" y="3829050"/>
            <a:ext cx="2222500" cy="330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7D5BBF"/>
                </a:solidFill>
                <a:latin typeface="Arial"/>
                <a:cs typeface="Arial"/>
              </a:rPr>
              <a:t>💻 الخدماتُ الرقميّةُ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750" y="4210050"/>
            <a:ext cx="31750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400" b="1" lang="ar-SA">
                <a:solidFill>
                  <a:srgbClr val="2D1F4A"/>
                </a:solidFill>
                <a:latin typeface="Arial"/>
                <a:cs typeface="Arial"/>
              </a:rPr>
              <a:t>تُنجَزُ المعاملاتُ بـ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49500" y="4857750"/>
            <a:ext cx="1651000" cy="495300"/>
          </a:xfrm>
          <a:prstGeom prst="roundRect">
            <a:avLst>
              <a:gd name="adj" fmla="val 28205"/>
            </a:avLst>
          </a:prstGeom>
          <a:solidFill>
            <a:srgbClr val="F4EEFC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49500" y="4857750"/>
            <a:ext cx="1651000" cy="495300"/>
          </a:xfrm>
          <a:prstGeom prst="roundRect">
            <a:avLst>
              <a:gd name="adj" fmla="val 28205"/>
            </a:avLst>
          </a:prstGeom>
          <a:solidFill>
            <a:srgbClr val="E2F6EA"/>
          </a:solidFill>
          <a:ln w="254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23945E"/>
                </a:solidFill>
                <a:latin typeface="Arial"/>
                <a:cs typeface="Arial"/>
              </a:rPr>
              <a:t>الحَاسُوبِ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4250" y="4889500"/>
            <a:ext cx="1333500" cy="431800"/>
          </a:xfrm>
          <a:prstGeom prst="roundRect">
            <a:avLst>
              <a:gd name="adj" fmla="val 2941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2100" b="1" lang="ar-SA">
                <a:solidFill>
                  <a:srgbClr val="6A45A8"/>
                </a:solidFill>
                <a:latin typeface="Arial"/>
                <a:cs typeface="Arial"/>
              </a:rPr>
              <a:t>ا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عُ</a:t>
            </a:r>
            <a:r>
              <a:rPr sz="2100" b="1" lang="ar-SA">
                <a:solidFill>
                  <a:srgbClr val="6A45A8"/>
                </a:solidFill>
                <a:latin typeface="Arial"/>
                <a:cs typeface="Arial"/>
              </a:rPr>
              <a:t>و</a:t>
            </a:r>
            <a:r>
              <a:rPr sz="21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26000" y="5702300"/>
            <a:ext cx="2540000" cy="4572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FFFFFF"/>
                </a:solidFill>
                <a:latin typeface="Arial"/>
                <a:cs typeface="Arial"/>
              </a:rPr>
              <a:t>🇸🇦 رسالةٌ لوطني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60500" y="5638800"/>
            <a:ext cx="9271000" cy="609600"/>
          </a:xfrm>
          <a:prstGeom prst="roundRect">
            <a:avLst>
              <a:gd name="adj" fmla="val 31250"/>
            </a:avLst>
          </a:prstGeom>
          <a:solidFill>
            <a:srgbClr val="FFF9E3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300" b="1" lang="ar-SA">
                <a:solidFill>
                  <a:srgbClr val="4F2F86"/>
                </a:solidFill>
                <a:latin typeface="Arial"/>
                <a:cs typeface="Arial"/>
              </a:rPr>
              <a:t>بالعلمِ والعملِ نبني وطنَنا.. ونصنعُ </a:t>
            </a:r>
            <a:r>
              <a:rPr sz="2300" b="1" lang="ar-SA">
                <a:solidFill>
                  <a:srgbClr val="D6336C"/>
                </a:solidFill>
                <a:latin typeface="Arial"/>
                <a:cs typeface="Arial"/>
              </a:rPr>
              <a:t>آلاتِ المستقبلِ</a:t>
            </a:r>
            <a:r>
              <a:rPr sz="2300" b="1" lang="ar-SA">
                <a:solidFill>
                  <a:srgbClr val="4F2F86"/>
                </a:solidFill>
                <a:latin typeface="Arial"/>
                <a:cs typeface="Arial"/>
              </a:rPr>
              <a:t> مع رؤيةِ ٢٠٣٠ 💚</a:t>
            </a:r>
          </a:p>
        </p:txBody>
      </p:sp>
      <p:pic>
        <p:nvPicPr>
          <p:cNvPr id="48" name="Picture 47" descr="confet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1206500"/>
            <a:ext cx="10795000" cy="444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"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3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0"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9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7"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5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4"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1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1"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7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98"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43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12"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46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5" grpId="0" animBg="1"/>
      <p:bldP spid="26" grpId="0" animBg="1"/>
      <p:bldP spid="27" grpId="0" animBg="1"/>
      <p:bldP spid="31" grpId="0" animBg="1"/>
      <p:bldP spid="32" grpId="0" animBg="1"/>
      <p:bldP spid="33" grpId="0" animBg="1"/>
      <p:bldP spid="37" grpId="0" animBg="1"/>
      <p:bldP spid="38" grpId="0" animBg="1"/>
      <p:bldP spid="39" grpId="0" animBg="1"/>
      <p:bldP spid="43" grpId="0" animBg="1"/>
      <p:bldP spid="44" grpId="0" animBg="1"/>
      <p:bldP spid="45" grpId="0" animBg="1"/>
      <p:bldP spid="47" grpId="0" animBg="1"/>
    </p:bldLst>
  </p:timing>
  <p:transition spd="med">
    <p:zoom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ما اسمُ الآلةِ؟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💡 أستنتجُ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٨ / ٢٤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1301750"/>
            <a:ext cx="8890000" cy="444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400" b="1" lang="ar-SA">
                <a:solidFill>
                  <a:srgbClr val="6A45A8"/>
                </a:solidFill>
                <a:latin typeface="Arial"/>
                <a:cs typeface="Arial"/>
              </a:rPr>
              <a:t>من خلالِ الأمثلةِ السابقةِ.. كيف نُعرِّفُ اسمَ الآلةِ؟ 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500" y="1873250"/>
            <a:ext cx="10541000" cy="254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1" name="Rounded Rectangle 10"/>
          <p:cNvSpPr/>
          <p:nvPr/>
        </p:nvSpPr>
        <p:spPr>
          <a:xfrm>
            <a:off x="7778750" y="2159000"/>
            <a:ext cx="2095500" cy="825500"/>
          </a:xfrm>
          <a:prstGeom prst="roundRect">
            <a:avLst>
              <a:gd name="adj" fmla="val 18461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400" b="1" lang="ar-SA">
                <a:solidFill>
                  <a:srgbClr val="D6336C"/>
                </a:solidFill>
                <a:latin typeface="Arial"/>
                <a:cs typeface="Arial"/>
              </a:rPr>
              <a:t>اسمُ الآلةِ: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8750" y="2159000"/>
            <a:ext cx="2095500" cy="825500"/>
          </a:xfrm>
          <a:prstGeom prst="roundRect">
            <a:avLst>
              <a:gd name="adj" fmla="val 18461"/>
            </a:avLst>
          </a:prstGeom>
          <a:solidFill>
            <a:srgbClr val="F4EEFC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2750" y="2159000"/>
            <a:ext cx="2095500" cy="825500"/>
          </a:xfrm>
          <a:prstGeom prst="roundRect">
            <a:avLst>
              <a:gd name="adj" fmla="val 18461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400" b="1" lang="ar-SA">
                <a:solidFill>
                  <a:srgbClr val="2D1F4A"/>
                </a:solidFill>
                <a:latin typeface="Arial"/>
                <a:cs typeface="Arial"/>
              </a:rPr>
              <a:t>اسمٌ مُشتَقٌّ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2750" y="2159000"/>
            <a:ext cx="2095500" cy="825500"/>
          </a:xfrm>
          <a:prstGeom prst="roundRect">
            <a:avLst>
              <a:gd name="adj" fmla="val 18461"/>
            </a:avLst>
          </a:prstGeom>
          <a:solidFill>
            <a:srgbClr val="F4EEFC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17750" y="2159000"/>
            <a:ext cx="2984500" cy="825500"/>
          </a:xfrm>
          <a:prstGeom prst="roundRect">
            <a:avLst>
              <a:gd name="adj" fmla="val 18461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400" b="1" lang="ar-SA">
                <a:solidFill>
                  <a:srgbClr val="2D1F4A"/>
                </a:solidFill>
                <a:latin typeface="Arial"/>
                <a:cs typeface="Arial"/>
              </a:rPr>
              <a:t>منَ الفعلِ الثُّلاثيِّ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17750" y="2159000"/>
            <a:ext cx="2984500" cy="825500"/>
          </a:xfrm>
          <a:prstGeom prst="roundRect">
            <a:avLst>
              <a:gd name="adj" fmla="val 18461"/>
            </a:avLst>
          </a:prstGeom>
          <a:solidFill>
            <a:srgbClr val="F4EEFC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5750" y="3206750"/>
            <a:ext cx="3302000" cy="825500"/>
          </a:xfrm>
          <a:prstGeom prst="roundRect">
            <a:avLst>
              <a:gd name="adj" fmla="val 18461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400" b="1" lang="ar-SA">
                <a:solidFill>
                  <a:srgbClr val="2D1F4A"/>
                </a:solidFill>
                <a:latin typeface="Arial"/>
                <a:cs typeface="Arial"/>
              </a:rPr>
              <a:t>للدَّلالةِ على الأداةِ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35750" y="3206750"/>
            <a:ext cx="3302000" cy="825500"/>
          </a:xfrm>
          <a:prstGeom prst="roundRect">
            <a:avLst>
              <a:gd name="adj" fmla="val 18461"/>
            </a:avLst>
          </a:prstGeom>
          <a:solidFill>
            <a:srgbClr val="F4EEFC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54250" y="3206750"/>
            <a:ext cx="4191000" cy="825500"/>
          </a:xfrm>
          <a:prstGeom prst="roundRect">
            <a:avLst>
              <a:gd name="adj" fmla="val 18461"/>
            </a:avLst>
          </a:prstGeom>
          <a:solidFill>
            <a:srgbClr val="FDF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400" b="1" lang="ar-SA">
                <a:solidFill>
                  <a:srgbClr val="2D1F4A"/>
                </a:solidFill>
                <a:latin typeface="Arial"/>
                <a:cs typeface="Arial"/>
              </a:rPr>
              <a:t>التي يُؤدّى بها هذا الفعلُ.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54250" y="3206750"/>
            <a:ext cx="4191000" cy="825500"/>
          </a:xfrm>
          <a:prstGeom prst="roundRect">
            <a:avLst>
              <a:gd name="adj" fmla="val 18461"/>
            </a:avLst>
          </a:prstGeom>
          <a:solidFill>
            <a:srgbClr val="F4EEFC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26000" y="4635500"/>
            <a:ext cx="2540000" cy="4572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FFFFFF"/>
                </a:solidFill>
                <a:latin typeface="Arial"/>
                <a:cs typeface="Arial"/>
              </a:rPr>
              <a:t>✨ أمثلة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0500" y="4572000"/>
            <a:ext cx="9271000" cy="635000"/>
          </a:xfrm>
          <a:prstGeom prst="roundRect">
            <a:avLst>
              <a:gd name="adj" fmla="val 30000"/>
            </a:avLst>
          </a:prstGeom>
          <a:solidFill>
            <a:srgbClr val="FFF9E3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4F2F86"/>
                </a:solidFill>
                <a:latin typeface="Arial"/>
                <a:cs typeface="Arial"/>
              </a:rPr>
              <a:t>مِثل: فَتَحَ ← مِفْتَاح   •   طَبَعَ ← طَابِعَة   •   نَشَرَ ← مِنْشَار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397500"/>
            <a:ext cx="7620000" cy="3556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1600" b="1" lang="ar-SA">
                <a:solidFill>
                  <a:srgbClr val="9A7FD6"/>
                </a:solidFill>
                <a:latin typeface="Arial"/>
                <a:cs typeface="Arial"/>
              </a:rPr>
              <a:t>اضغطي على كلِّ جزءٍ بالترتيب ليظهرَ التعريفُ تدريجيًّا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"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5"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7"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9"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1"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70"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4" grpId="0" animBg="1"/>
      <p:bldP spid="13" grpId="0" animBg="1"/>
      <p:bldP spid="16" grpId="0" animBg="1"/>
      <p:bldP spid="15" grpId="0" animBg="1"/>
      <p:bldP spid="18" grpId="0" animBg="1"/>
      <p:bldP spid="17" grpId="0" animBg="1"/>
      <p:bldP spid="20" grpId="0" animBg="1"/>
      <p:bldP spid="19" grpId="0" animBg="1"/>
      <p:bldP spid="22" grpId="0" animBg="1"/>
    </p:bldLst>
  </p:timing>
  <p:transition spd="med">
    <p:zoom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أوزانُ اسمِ الآلةِ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🃏 البطاقات التفاعلية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٩ / ٢٤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1270000"/>
            <a:ext cx="8890000" cy="406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اقرئي الوزنَ.. وتوقّعي مثالًا قبلَ قلبِ البطاقةِ! 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74125" y="18415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600" b="1" lang="ar-SA">
                <a:solidFill>
                  <a:srgbClr val="2D1F4A"/>
                </a:solidFill>
                <a:latin typeface="Arial"/>
                <a:cs typeface="Arial"/>
              </a:rPr>
              <a:t>مِ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4600" b="1" lang="ar-SA">
                <a:solidFill>
                  <a:srgbClr val="2D1F4A"/>
                </a:solidFill>
                <a:latin typeface="Arial"/>
                <a:cs typeface="Arial"/>
              </a:rPr>
              <a:t>ا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  <a:p>
            <a:pPr algn="ctr" rtl="1"/>
            <a:r>
              <a:rPr sz="1400" b="1" lang="ar-SA">
                <a:solidFill>
                  <a:srgbClr val="9A7FD6"/>
                </a:solidFill>
                <a:latin typeface="Arial"/>
                <a:cs typeface="Arial"/>
              </a:rPr>
              <a:t>اضغطي للقلب 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74125" y="18415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000" b="1" lang="ar-SA">
                <a:solidFill>
                  <a:srgbClr val="FFFFFF"/>
                </a:solidFill>
                <a:latin typeface="Arial"/>
                <a:cs typeface="Arial"/>
              </a:rPr>
              <a:t>🔑</a:t>
            </a:r>
          </a:p>
          <a:p>
            <a:pPr algn="ctr" rtl="1"/>
            <a:r>
              <a:rPr sz="3600" b="1" lang="ar-SA">
                <a:solidFill>
                  <a:srgbClr val="FFFFFF"/>
                </a:solidFill>
                <a:latin typeface="Arial"/>
                <a:cs typeface="Arial"/>
              </a:rPr>
              <a:t>مِفْتَاح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250" y="18415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600" b="1" lang="ar-SA">
                <a:solidFill>
                  <a:srgbClr val="2D1F4A"/>
                </a:solidFill>
                <a:latin typeface="Arial"/>
                <a:cs typeface="Arial"/>
              </a:rPr>
              <a:t>مِ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  <a:p>
            <a:pPr algn="ctr" rtl="1"/>
            <a:r>
              <a:rPr sz="1400" b="1" lang="ar-SA">
                <a:solidFill>
                  <a:srgbClr val="9A7FD6"/>
                </a:solidFill>
                <a:latin typeface="Arial"/>
                <a:cs typeface="Arial"/>
              </a:rPr>
              <a:t>اضغطي للقلب 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1250" y="18415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000" b="1" lang="ar-SA">
                <a:solidFill>
                  <a:srgbClr val="FFFFFF"/>
                </a:solidFill>
                <a:latin typeface="Arial"/>
                <a:cs typeface="Arial"/>
              </a:rPr>
              <a:t>🛗</a:t>
            </a:r>
          </a:p>
          <a:p>
            <a:pPr algn="ctr" rtl="1"/>
            <a:r>
              <a:rPr sz="3600" b="1" lang="ar-SA">
                <a:solidFill>
                  <a:srgbClr val="FFFFFF"/>
                </a:solidFill>
                <a:latin typeface="Arial"/>
                <a:cs typeface="Arial"/>
              </a:rPr>
              <a:t>مِصْعَد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8375" y="18415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600" b="1" lang="ar-SA">
                <a:solidFill>
                  <a:srgbClr val="2D1F4A"/>
                </a:solidFill>
                <a:latin typeface="Arial"/>
                <a:cs typeface="Arial"/>
              </a:rPr>
              <a:t>مِ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4600" b="1" lang="ar-SA">
                <a:solidFill>
                  <a:srgbClr val="2D1F4A"/>
                </a:solidFill>
                <a:latin typeface="Arial"/>
                <a:cs typeface="Arial"/>
              </a:rPr>
              <a:t>ة</a:t>
            </a:r>
          </a:p>
          <a:p>
            <a:pPr algn="ctr" rtl="1"/>
            <a:r>
              <a:rPr sz="1400" b="1" lang="ar-SA">
                <a:solidFill>
                  <a:srgbClr val="9A7FD6"/>
                </a:solidFill>
                <a:latin typeface="Arial"/>
                <a:cs typeface="Arial"/>
              </a:rPr>
              <a:t>اضغطي للقلب 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8375" y="18415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000" b="1" lang="ar-SA">
                <a:solidFill>
                  <a:srgbClr val="FFFFFF"/>
                </a:solidFill>
                <a:latin typeface="Arial"/>
                <a:cs typeface="Arial"/>
              </a:rPr>
              <a:t>🥄</a:t>
            </a:r>
          </a:p>
          <a:p>
            <a:pPr algn="ctr" rtl="1"/>
            <a:r>
              <a:rPr sz="3600" b="1" lang="ar-SA">
                <a:solidFill>
                  <a:srgbClr val="FFFFFF"/>
                </a:solidFill>
                <a:latin typeface="Arial"/>
                <a:cs typeface="Arial"/>
              </a:rPr>
              <a:t>مِلْعَقَة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500" y="18415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4600" b="1" lang="ar-SA">
                <a:solidFill>
                  <a:srgbClr val="2D1F4A"/>
                </a:solidFill>
                <a:latin typeface="Arial"/>
                <a:cs typeface="Arial"/>
              </a:rPr>
              <a:t>ا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عِ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4600" b="1" lang="ar-SA">
                <a:solidFill>
                  <a:srgbClr val="2D1F4A"/>
                </a:solidFill>
                <a:latin typeface="Arial"/>
                <a:cs typeface="Arial"/>
              </a:rPr>
              <a:t>ة</a:t>
            </a:r>
          </a:p>
          <a:p>
            <a:pPr algn="ctr" rtl="1"/>
            <a:r>
              <a:rPr sz="1400" b="1" lang="ar-SA">
                <a:solidFill>
                  <a:srgbClr val="9A7FD6"/>
                </a:solidFill>
                <a:latin typeface="Arial"/>
                <a:cs typeface="Arial"/>
              </a:rPr>
              <a:t>اضغطي للقلب 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500" y="18415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000" b="1" lang="ar-SA">
                <a:solidFill>
                  <a:srgbClr val="FFFFFF"/>
                </a:solidFill>
                <a:latin typeface="Arial"/>
                <a:cs typeface="Arial"/>
              </a:rPr>
              <a:t>🖨️</a:t>
            </a:r>
          </a:p>
          <a:p>
            <a:pPr algn="ctr" rtl="1"/>
            <a:r>
              <a:rPr sz="3600" b="1" lang="ar-SA">
                <a:solidFill>
                  <a:srgbClr val="FFFFFF"/>
                </a:solidFill>
                <a:latin typeface="Arial"/>
                <a:cs typeface="Arial"/>
              </a:rPr>
              <a:t>طَابِعَة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32688" y="39370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عَّ</a:t>
            </a:r>
            <a:r>
              <a:rPr sz="4600" b="1" lang="ar-SA">
                <a:solidFill>
                  <a:srgbClr val="2D1F4A"/>
                </a:solidFill>
                <a:latin typeface="Arial"/>
                <a:cs typeface="Arial"/>
              </a:rPr>
              <a:t>ا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  <a:p>
            <a:pPr algn="ctr" rtl="1"/>
            <a:r>
              <a:rPr sz="1400" b="1" lang="ar-SA">
                <a:solidFill>
                  <a:srgbClr val="9A7FD6"/>
                </a:solidFill>
                <a:latin typeface="Arial"/>
                <a:cs typeface="Arial"/>
              </a:rPr>
              <a:t>اضغطي للقلب 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32688" y="39370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000" b="1" lang="ar-SA">
                <a:solidFill>
                  <a:srgbClr val="FFFFFF"/>
                </a:solidFill>
                <a:latin typeface="Arial"/>
                <a:cs typeface="Arial"/>
              </a:rPr>
              <a:t>🔦</a:t>
            </a:r>
          </a:p>
          <a:p>
            <a:pPr algn="ctr" rtl="1"/>
            <a:r>
              <a:rPr sz="3600" b="1" lang="ar-SA">
                <a:solidFill>
                  <a:srgbClr val="FFFFFF"/>
                </a:solidFill>
                <a:latin typeface="Arial"/>
                <a:cs typeface="Arial"/>
              </a:rPr>
              <a:t>كَشَّاف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9812" y="39370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عَّ</a:t>
            </a:r>
            <a:r>
              <a:rPr sz="4600" b="1" lang="ar-SA">
                <a:solidFill>
                  <a:srgbClr val="2D1F4A"/>
                </a:solidFill>
                <a:latin typeface="Arial"/>
                <a:cs typeface="Arial"/>
              </a:rPr>
              <a:t>ا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4600" b="1" lang="ar-SA">
                <a:solidFill>
                  <a:srgbClr val="2D1F4A"/>
                </a:solidFill>
                <a:latin typeface="Arial"/>
                <a:cs typeface="Arial"/>
              </a:rPr>
              <a:t>ة</a:t>
            </a:r>
          </a:p>
          <a:p>
            <a:pPr algn="ctr" rtl="1"/>
            <a:r>
              <a:rPr sz="1400" b="1" lang="ar-SA">
                <a:solidFill>
                  <a:srgbClr val="9A7FD6"/>
                </a:solidFill>
                <a:latin typeface="Arial"/>
                <a:cs typeface="Arial"/>
              </a:rPr>
              <a:t>اضغطي للقلب 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9812" y="39370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000" b="1" lang="ar-SA">
                <a:solidFill>
                  <a:srgbClr val="FFFFFF"/>
                </a:solidFill>
                <a:latin typeface="Arial"/>
                <a:cs typeface="Arial"/>
              </a:rPr>
              <a:t>🧊</a:t>
            </a:r>
          </a:p>
          <a:p>
            <a:pPr algn="ctr" rtl="1"/>
            <a:r>
              <a:rPr sz="3600" b="1" lang="ar-SA">
                <a:solidFill>
                  <a:srgbClr val="FFFFFF"/>
                </a:solidFill>
                <a:latin typeface="Arial"/>
                <a:cs typeface="Arial"/>
              </a:rPr>
              <a:t>ثَلَّاجَة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66938" y="39370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4600" b="1" lang="ar-SA">
                <a:solidFill>
                  <a:srgbClr val="2D1F4A"/>
                </a:solidFill>
                <a:latin typeface="Arial"/>
                <a:cs typeface="Arial"/>
              </a:rPr>
              <a:t>ا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عُ</a:t>
            </a:r>
            <a:r>
              <a:rPr sz="4600" b="1" lang="ar-SA">
                <a:solidFill>
                  <a:srgbClr val="2D1F4A"/>
                </a:solidFill>
                <a:latin typeface="Arial"/>
                <a:cs typeface="Arial"/>
              </a:rPr>
              <a:t>و</a:t>
            </a:r>
            <a:r>
              <a:rPr sz="46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  <a:p>
            <a:pPr algn="ctr" rtl="1"/>
            <a:r>
              <a:rPr sz="1400" b="1" lang="ar-SA">
                <a:solidFill>
                  <a:srgbClr val="9A7FD6"/>
                </a:solidFill>
                <a:latin typeface="Arial"/>
                <a:cs typeface="Arial"/>
              </a:rPr>
              <a:t>اضغطي للقلب 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66938" y="3937000"/>
            <a:ext cx="2492375" cy="1905000"/>
          </a:xfrm>
          <a:prstGeom prst="roundRect">
            <a:avLst>
              <a:gd name="adj" fmla="val 1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4000" b="1" lang="ar-SA">
                <a:solidFill>
                  <a:srgbClr val="FFFFFF"/>
                </a:solidFill>
                <a:latin typeface="Arial"/>
                <a:cs typeface="Arial"/>
              </a:rPr>
              <a:t>💻</a:t>
            </a:r>
          </a:p>
          <a:p>
            <a:pPr algn="ctr" rtl="1"/>
            <a:r>
              <a:rPr sz="3600" b="1" lang="ar-SA">
                <a:solidFill>
                  <a:srgbClr val="FFFFFF"/>
                </a:solidFill>
                <a:latin typeface="Arial"/>
                <a:cs typeface="Arial"/>
              </a:rPr>
              <a:t>حَاسُوب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"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5"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7"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9"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1"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8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73"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5"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  <p:transition spd="med">
    <p:push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أنواعُ اسمِ الآلةِ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🌳 خريطةٌ ذهنيّة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١٠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0" y="1365250"/>
            <a:ext cx="3810000" cy="635000"/>
          </a:xfrm>
          <a:prstGeom prst="roundRect">
            <a:avLst>
              <a:gd name="adj" fmla="val 3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FFFFFF"/>
                </a:solidFill>
                <a:latin typeface="Arial"/>
                <a:cs typeface="Arial"/>
              </a:rPr>
              <a:t>اسمُ الآلةِ نوعان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6950" y="2000250"/>
            <a:ext cx="38100" cy="254000"/>
          </a:xfrm>
          <a:prstGeom prst="roundRect">
            <a:avLst>
              <a:gd name="adj" fmla="val 50000"/>
            </a:avLst>
          </a:prstGeom>
          <a:solidFill>
            <a:srgbClr val="CDB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1" name="Rounded Rectangle 10"/>
          <p:cNvSpPr/>
          <p:nvPr/>
        </p:nvSpPr>
        <p:spPr>
          <a:xfrm>
            <a:off x="3048000" y="2235200"/>
            <a:ext cx="6096000" cy="38100"/>
          </a:xfrm>
          <a:prstGeom prst="roundRect">
            <a:avLst>
              <a:gd name="adj" fmla="val 50000"/>
            </a:avLst>
          </a:prstGeom>
          <a:solidFill>
            <a:srgbClr val="CDB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2" name="Rounded Rectangle 11"/>
          <p:cNvSpPr/>
          <p:nvPr/>
        </p:nvSpPr>
        <p:spPr>
          <a:xfrm>
            <a:off x="3048000" y="2235200"/>
            <a:ext cx="38100" cy="317500"/>
          </a:xfrm>
          <a:prstGeom prst="roundRect">
            <a:avLst>
              <a:gd name="adj" fmla="val 50000"/>
            </a:avLst>
          </a:prstGeom>
          <a:solidFill>
            <a:srgbClr val="CDB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3" name="Rounded Rectangle 12"/>
          <p:cNvSpPr/>
          <p:nvPr/>
        </p:nvSpPr>
        <p:spPr>
          <a:xfrm>
            <a:off x="9105900" y="2235200"/>
            <a:ext cx="38100" cy="317500"/>
          </a:xfrm>
          <a:prstGeom prst="roundRect">
            <a:avLst>
              <a:gd name="adj" fmla="val 50000"/>
            </a:avLst>
          </a:prstGeom>
          <a:solidFill>
            <a:srgbClr val="CDB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4" name="Rounded Rectangle 13"/>
          <p:cNvSpPr/>
          <p:nvPr/>
        </p:nvSpPr>
        <p:spPr>
          <a:xfrm>
            <a:off x="8128000" y="2540000"/>
            <a:ext cx="1968500" cy="635000"/>
          </a:xfrm>
          <a:prstGeom prst="roundRect">
            <a:avLst>
              <a:gd name="adj" fmla="val 26000"/>
            </a:avLst>
          </a:prstGeom>
          <a:solidFill>
            <a:srgbClr val="FBE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3B2263"/>
                </a:solidFill>
                <a:latin typeface="Arial"/>
                <a:cs typeface="Arial"/>
              </a:rPr>
              <a:t>مُشتَقٌّ 🌱</a:t>
            </a:r>
          </a:p>
          <a:p>
            <a:pPr algn="ctr" rtl="1"/>
            <a:r>
              <a:rPr sz="1300" b="1" lang="ar-SA">
                <a:solidFill>
                  <a:srgbClr val="7D5BBF"/>
                </a:solidFill>
                <a:latin typeface="Arial"/>
                <a:cs typeface="Arial"/>
              </a:rPr>
              <a:t>اضغطي للاكتشاف 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9000" y="3365500"/>
            <a:ext cx="3746500" cy="20955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2D1F4A"/>
                </a:solidFill>
                <a:latin typeface="Arial"/>
                <a:cs typeface="Arial"/>
              </a:rPr>
              <a:t>من حروفِ فعلٍ ثلاثيٍّ،</a:t>
            </a:r>
          </a:p>
          <a:p>
            <a:pPr algn="ctr" rtl="1"/>
            <a:r>
              <a:rPr sz="2400" b="1" lang="ar-SA">
                <a:solidFill>
                  <a:srgbClr val="2D1F4A"/>
                </a:solidFill>
                <a:latin typeface="Arial"/>
                <a:cs typeface="Arial"/>
              </a:rPr>
              <a:t>على أوزانٍ يُمكنُ القياسُ عليها</a:t>
            </a:r>
          </a:p>
          <a:p>
            <a:pPr algn="ctr" rtl="1"/>
          </a:p>
          <a:p>
            <a:pPr algn="ctr" rtl="1"/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نَشَرَ ← مِنْشَار   •   حَصَدَ ← حَصَّادَة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95500" y="2540000"/>
            <a:ext cx="1968500" cy="635000"/>
          </a:xfrm>
          <a:prstGeom prst="roundRect">
            <a:avLst>
              <a:gd name="adj" fmla="val 26000"/>
            </a:avLst>
          </a:prstGeom>
          <a:solidFill>
            <a:srgbClr val="FBE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3B2263"/>
                </a:solidFill>
                <a:latin typeface="Arial"/>
                <a:cs typeface="Arial"/>
              </a:rPr>
              <a:t>جامِدٌ 🪨</a:t>
            </a:r>
          </a:p>
          <a:p>
            <a:pPr algn="ctr" rtl="1"/>
            <a:r>
              <a:rPr sz="1300" b="1" lang="ar-SA">
                <a:solidFill>
                  <a:srgbClr val="7D5BBF"/>
                </a:solidFill>
                <a:latin typeface="Arial"/>
                <a:cs typeface="Arial"/>
              </a:rPr>
              <a:t>اضغطي للاكتشاف 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6500" y="3365500"/>
            <a:ext cx="3746500" cy="20955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2D1F4A"/>
                </a:solidFill>
                <a:latin typeface="Arial"/>
                <a:cs typeface="Arial"/>
              </a:rPr>
              <a:t>سَماعيٌّ — سُمِعَ عنِ العربِ،</a:t>
            </a:r>
          </a:p>
          <a:p>
            <a:pPr algn="ctr" rtl="1"/>
            <a:r>
              <a:rPr sz="2400" b="1" lang="ar-SA">
                <a:solidFill>
                  <a:srgbClr val="2D1F4A"/>
                </a:solidFill>
                <a:latin typeface="Arial"/>
                <a:cs typeface="Arial"/>
              </a:rPr>
              <a:t>ليسَ لهُ فِعلٌ</a:t>
            </a:r>
          </a:p>
          <a:p>
            <a:pPr algn="ctr" rtl="1"/>
          </a:p>
          <a:p>
            <a:pPr algn="ctr" rtl="1"/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سِكِّين   •   قَلَم   •   فَأْس   •   رُمْح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8"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4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7"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17" grpId="0" animBg="1"/>
    </p:bldLst>
  </p:timing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عاصفةُ الأدواتِ!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🧠 العصف الذهني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١١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500" y="1333500"/>
            <a:ext cx="6731000" cy="4826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3175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0" name="Oval 9"/>
          <p:cNvSpPr/>
          <p:nvPr/>
        </p:nvSpPr>
        <p:spPr>
          <a:xfrm>
            <a:off x="3365500" y="2921000"/>
            <a:ext cx="1651000" cy="1651000"/>
          </a:xfrm>
          <a:prstGeom prst="ellipse">
            <a:avLst/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000" b="1" lang="ar-SA">
                <a:solidFill>
                  <a:srgbClr val="FFFFFF"/>
                </a:solidFill>
                <a:latin typeface="Arial"/>
                <a:cs typeface="Arial"/>
              </a:rPr>
              <a:t>اسمُ</a:t>
            </a:r>
          </a:p>
          <a:p>
            <a:pPr algn="ctr" rtl="1"/>
            <a:r>
              <a:rPr sz="3000" b="1" lang="ar-SA">
                <a:solidFill>
                  <a:srgbClr val="FFFFFF"/>
                </a:solidFill>
                <a:latin typeface="Arial"/>
                <a:cs typeface="Arial"/>
              </a:rPr>
              <a:t>الآلةِ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9500" y="16129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7750" y="1600200"/>
            <a:ext cx="1206500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مِلْعَقَة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9500" y="1868122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57750" y="1855422"/>
            <a:ext cx="1206500" cy="482600"/>
          </a:xfrm>
          <a:prstGeom prst="roundRect">
            <a:avLst>
              <a:gd name="adj" fmla="val 50000"/>
            </a:avLst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مِقَصّ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19205" y="25654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87455" y="2552700"/>
            <a:ext cx="1206500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مِكْوَاة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9500" y="35179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7750" y="3505200"/>
            <a:ext cx="1206500" cy="482600"/>
          </a:xfrm>
          <a:prstGeom prst="roundRect">
            <a:avLst>
              <a:gd name="adj" fmla="val 50000"/>
            </a:avLst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ثَلَّاجَة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9205" y="44704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87455" y="4457700"/>
            <a:ext cx="1206500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غَسَّالَة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89500" y="5167678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57750" y="5154978"/>
            <a:ext cx="1206500" cy="482600"/>
          </a:xfrm>
          <a:prstGeom prst="roundRect">
            <a:avLst>
              <a:gd name="adj" fmla="val 50000"/>
            </a:avLst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مِبْرَاة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9500" y="54229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87750" y="5410200"/>
            <a:ext cx="1206500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مِسْطَرَة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49500" y="5167678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17750" y="5154978"/>
            <a:ext cx="1206500" cy="482600"/>
          </a:xfrm>
          <a:prstGeom prst="roundRect">
            <a:avLst>
              <a:gd name="adj" fmla="val 50000"/>
            </a:avLst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مِرْوَحَة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9795" y="44704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88045" y="4457700"/>
            <a:ext cx="1206500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حَاسُوب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9500" y="35179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7750" y="3505200"/>
            <a:ext cx="1206500" cy="482600"/>
          </a:xfrm>
          <a:prstGeom prst="roundRect">
            <a:avLst>
              <a:gd name="adj" fmla="val 50000"/>
            </a:avLst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مِشْط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19795" y="2565400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88045" y="2552700"/>
            <a:ext cx="1206500" cy="482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خَلَّاط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49500" y="1868122"/>
            <a:ext cx="1143000" cy="4572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17750" y="1855422"/>
            <a:ext cx="1206500" cy="482600"/>
          </a:xfrm>
          <a:prstGeom prst="roundRect">
            <a:avLst>
              <a:gd name="adj" fmla="val 50000"/>
            </a:avLst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مِجْهَر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47000" y="1333500"/>
            <a:ext cx="3619500" cy="17145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اذكري أكبرَ عددٍ من</a:t>
            </a:r>
          </a:p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أسماءِ الآلةِ في:</a:t>
            </a:r>
          </a:p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🏠 البيت • 🏫 المدرسة • 🍳 المطبخ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7000" y="3175000"/>
            <a:ext cx="3619500" cy="317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1800" b="1" lang="ar-SA">
                <a:solidFill>
                  <a:srgbClr val="6A45A8"/>
                </a:solidFill>
                <a:latin typeface="Arial"/>
                <a:cs typeface="Arial"/>
              </a:rPr>
              <a:t>⏱ مؤقّت دقيقتين: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1500" y="3556000"/>
            <a:ext cx="1905000" cy="4064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▶ ابدئي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47000" y="3670300"/>
            <a:ext cx="1587500" cy="177800"/>
          </a:xfrm>
          <a:prstGeom prst="roundRect">
            <a:avLst>
              <a:gd name="adj" fmla="val 50000"/>
            </a:avLst>
          </a:prstGeom>
          <a:solidFill>
            <a:srgbClr val="E4D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9" name="Rounded Rectangle 38"/>
          <p:cNvSpPr/>
          <p:nvPr/>
        </p:nvSpPr>
        <p:spPr>
          <a:xfrm>
            <a:off x="7747000" y="3670300"/>
            <a:ext cx="1587500" cy="1778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40" name="Rounded Rectangle 39"/>
          <p:cNvSpPr/>
          <p:nvPr/>
        </p:nvSpPr>
        <p:spPr>
          <a:xfrm>
            <a:off x="7747000" y="3556000"/>
            <a:ext cx="3619500" cy="406400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 w="2540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D9506F"/>
                </a:solidFill>
                <a:latin typeface="Arial"/>
                <a:cs typeface="Arial"/>
              </a:rPr>
              <a:t>⏰ انتهى الوقت!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47000" y="4318000"/>
            <a:ext cx="3619500" cy="1397000"/>
          </a:xfrm>
          <a:prstGeom prst="roundRect">
            <a:avLst>
              <a:gd name="adj" fmla="val 13636"/>
            </a:avLst>
          </a:prstGeom>
          <a:solidFill>
            <a:srgbClr val="FFF9E3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4F2F86"/>
                </a:solidFill>
                <a:latin typeface="Arial"/>
                <a:cs typeface="Arial"/>
              </a:rPr>
              <a:t>دوّني إجاباتِ الطالباتِ على السبورةِ،</a:t>
            </a:r>
          </a:p>
          <a:p>
            <a:pPr algn="ctr" rtl="1"/>
            <a:r>
              <a:rPr sz="1800" b="1" lang="ar-SA">
                <a:solidFill>
                  <a:srgbClr val="4F2F86"/>
                </a:solidFill>
                <a:latin typeface="Arial"/>
                <a:cs typeface="Arial"/>
              </a:rPr>
              <a:t>ثمّ اكشفي الفقاعاتِ 💡</a:t>
            </a:r>
          </a:p>
          <a:p>
            <a:pPr algn="ctr" rtl="1"/>
            <a:r>
              <a:rPr sz="1800" b="1" lang="ar-SA">
                <a:solidFill>
                  <a:srgbClr val="4F2F86"/>
                </a:solidFill>
                <a:latin typeface="Arial"/>
                <a:cs typeface="Arial"/>
              </a:rPr>
              <a:t>لمقارنتِها بالأفكارِ المقترحة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"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5"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7"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9"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1"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9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73"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1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5"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3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97"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5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09"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21"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9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3"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1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45" display="0" masterRel="sameClick">
                                          <p:stCondLst>
                                            <p:cond evt="begin" delay="0">
                                              <p:tn val="140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3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0" dur="120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119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120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57"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be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7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9" grpId="0" animBg="1"/>
      <p:bldP spid="40" grpId="0" animBg="1"/>
    </p:bldLst>
  </p:timing>
  <p:transition spd="med">
    <p:zoom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أصوغُ اسمَ الآلةِ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👭 فكّري • زاوجي • شاركي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١٢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18500" y="1365250"/>
            <a:ext cx="3048000" cy="762000"/>
          </a:xfrm>
          <a:prstGeom prst="roundRect">
            <a:avLst>
              <a:gd name="adj" fmla="val 21666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4F2F86"/>
                </a:solidFill>
                <a:latin typeface="Arial"/>
                <a:cs typeface="Arial"/>
              </a:rPr>
              <a:t>🤔  فكِّري</a:t>
            </a:r>
          </a:p>
          <a:p>
            <a:pPr algn="ctr" rtl="1"/>
            <a:r>
              <a:rPr sz="1600" b="1" lang="ar-SA">
                <a:solidFill>
                  <a:srgbClr val="7A6A9C"/>
                </a:solidFill>
                <a:latin typeface="Arial"/>
                <a:cs typeface="Arial"/>
              </a:rPr>
              <a:t>وحدَكِ بهدوء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1500" y="2222500"/>
            <a:ext cx="1905000" cy="4064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▶ ٦٠ 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8500" y="2336800"/>
            <a:ext cx="1016000" cy="177800"/>
          </a:xfrm>
          <a:prstGeom prst="roundRect">
            <a:avLst>
              <a:gd name="adj" fmla="val 50000"/>
            </a:avLst>
          </a:prstGeom>
          <a:solidFill>
            <a:srgbClr val="E4D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2" name="Rounded Rectangle 11"/>
          <p:cNvSpPr/>
          <p:nvPr/>
        </p:nvSpPr>
        <p:spPr>
          <a:xfrm>
            <a:off x="8318500" y="2336800"/>
            <a:ext cx="1016000" cy="1778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3" name="Rounded Rectangle 12"/>
          <p:cNvSpPr/>
          <p:nvPr/>
        </p:nvSpPr>
        <p:spPr>
          <a:xfrm>
            <a:off x="8318500" y="2222500"/>
            <a:ext cx="3048000" cy="406400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 w="2540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D9506F"/>
                </a:solidFill>
                <a:latin typeface="Arial"/>
                <a:cs typeface="Arial"/>
              </a:rPr>
              <a:t>⏰ انتهى الوقت!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8500" y="2794000"/>
            <a:ext cx="3048000" cy="762000"/>
          </a:xfrm>
          <a:prstGeom prst="roundRect">
            <a:avLst>
              <a:gd name="adj" fmla="val 21666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4F2F86"/>
                </a:solidFill>
                <a:latin typeface="Arial"/>
                <a:cs typeface="Arial"/>
              </a:rPr>
              <a:t>👭  زاوِجي</a:t>
            </a:r>
          </a:p>
          <a:p>
            <a:pPr algn="ctr" rtl="1"/>
            <a:r>
              <a:rPr sz="1600" b="1" lang="ar-SA">
                <a:solidFill>
                  <a:srgbClr val="7A6A9C"/>
                </a:solidFill>
                <a:latin typeface="Arial"/>
                <a:cs typeface="Arial"/>
              </a:rPr>
              <a:t>ناقشي زميلتَكِ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1500" y="3651250"/>
            <a:ext cx="1905000" cy="4064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▶ ٩٠ 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18500" y="3765550"/>
            <a:ext cx="1016000" cy="177800"/>
          </a:xfrm>
          <a:prstGeom prst="roundRect">
            <a:avLst>
              <a:gd name="adj" fmla="val 50000"/>
            </a:avLst>
          </a:prstGeom>
          <a:solidFill>
            <a:srgbClr val="E4D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7" name="Rounded Rectangle 16"/>
          <p:cNvSpPr/>
          <p:nvPr/>
        </p:nvSpPr>
        <p:spPr>
          <a:xfrm>
            <a:off x="8318500" y="3765550"/>
            <a:ext cx="1016000" cy="1778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8" name="Rounded Rectangle 17"/>
          <p:cNvSpPr/>
          <p:nvPr/>
        </p:nvSpPr>
        <p:spPr>
          <a:xfrm>
            <a:off x="8318500" y="3651250"/>
            <a:ext cx="3048000" cy="406400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 w="2540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D9506F"/>
                </a:solidFill>
                <a:latin typeface="Arial"/>
                <a:cs typeface="Arial"/>
              </a:rPr>
              <a:t>⏰ انتهى الوقت!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18500" y="4222750"/>
            <a:ext cx="3048000" cy="762000"/>
          </a:xfrm>
          <a:prstGeom prst="roundRect">
            <a:avLst>
              <a:gd name="adj" fmla="val 21666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4F2F86"/>
                </a:solidFill>
                <a:latin typeface="Arial"/>
                <a:cs typeface="Arial"/>
              </a:rPr>
              <a:t>📢  شارِكي</a:t>
            </a:r>
          </a:p>
          <a:p>
            <a:pPr algn="ctr" rtl="1"/>
            <a:r>
              <a:rPr sz="1600" b="1" lang="ar-SA">
                <a:solidFill>
                  <a:srgbClr val="7A6A9C"/>
                </a:solidFill>
                <a:latin typeface="Arial"/>
                <a:cs typeface="Arial"/>
              </a:rPr>
              <a:t>أعلني إجابتَكِ للفصلِ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1500" y="5080000"/>
            <a:ext cx="1905000" cy="4064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▶ ٦٠ 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18500" y="5194300"/>
            <a:ext cx="1016000" cy="177800"/>
          </a:xfrm>
          <a:prstGeom prst="roundRect">
            <a:avLst>
              <a:gd name="adj" fmla="val 50000"/>
            </a:avLst>
          </a:prstGeom>
          <a:solidFill>
            <a:srgbClr val="E4D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2" name="Rounded Rectangle 21"/>
          <p:cNvSpPr/>
          <p:nvPr/>
        </p:nvSpPr>
        <p:spPr>
          <a:xfrm>
            <a:off x="8318500" y="5194300"/>
            <a:ext cx="1016000" cy="1778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3" name="Rounded Rectangle 22"/>
          <p:cNvSpPr/>
          <p:nvPr/>
        </p:nvSpPr>
        <p:spPr>
          <a:xfrm>
            <a:off x="8318500" y="5080000"/>
            <a:ext cx="3048000" cy="406400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 w="2540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D9506F"/>
                </a:solidFill>
                <a:latin typeface="Arial"/>
                <a:cs typeface="Arial"/>
              </a:rPr>
              <a:t>⏰ انتهى الوقت!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000" y="1333500"/>
            <a:ext cx="7175500" cy="4191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400" b="1" lang="ar-SA">
                <a:solidFill>
                  <a:srgbClr val="4F2F86"/>
                </a:solidFill>
                <a:latin typeface="Arial"/>
                <a:cs typeface="Arial"/>
              </a:rPr>
              <a:t>صُوغي اسمَ الآلةِ منَ الأفعالِ الآتيةِ، ثمّ زِنيه: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7000" y="1841500"/>
            <a:ext cx="1587500" cy="393700"/>
          </a:xfrm>
          <a:prstGeom prst="roundRect">
            <a:avLst>
              <a:gd name="adj" fmla="val 25806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900" b="1" lang="ar-SA">
                <a:solidFill>
                  <a:srgbClr val="FFFFFF"/>
                </a:solidFill>
                <a:latin typeface="Arial"/>
                <a:cs typeface="Arial"/>
              </a:rPr>
              <a:t>الفعل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0" y="1841500"/>
            <a:ext cx="2540000" cy="393700"/>
          </a:xfrm>
          <a:prstGeom prst="roundRect">
            <a:avLst>
              <a:gd name="adj" fmla="val 25806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900" b="1" lang="ar-SA">
                <a:solidFill>
                  <a:srgbClr val="FFFFFF"/>
                </a:solidFill>
                <a:latin typeface="Arial"/>
                <a:cs typeface="Arial"/>
              </a:rPr>
              <a:t>اسمُ الآلةِ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9000" y="1841500"/>
            <a:ext cx="2794000" cy="393700"/>
          </a:xfrm>
          <a:prstGeom prst="roundRect">
            <a:avLst>
              <a:gd name="adj" fmla="val 25806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900" b="1" lang="ar-SA">
                <a:solidFill>
                  <a:srgbClr val="FFFFFF"/>
                </a:solidFill>
                <a:latin typeface="Arial"/>
                <a:cs typeface="Arial"/>
              </a:rPr>
              <a:t>الوزن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7000" y="2317750"/>
            <a:ext cx="1587500" cy="508000"/>
          </a:xfrm>
          <a:prstGeom prst="roundRect">
            <a:avLst>
              <a:gd name="adj" fmla="val 20000"/>
            </a:avLst>
          </a:prstGeom>
          <a:solidFill>
            <a:srgbClr val="FDF0C2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طَحَنَ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0" y="231775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CDB8E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0000" y="231775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مِطْحَنَة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9000" y="231775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CDB8E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9000" y="231775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مِ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77000" y="2901950"/>
            <a:ext cx="1587500" cy="508000"/>
          </a:xfrm>
          <a:prstGeom prst="roundRect">
            <a:avLst>
              <a:gd name="adj" fmla="val 20000"/>
            </a:avLst>
          </a:prstGeom>
          <a:solidFill>
            <a:srgbClr val="FDF0C2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نَظَرَ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10000" y="290195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CDB8E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10000" y="290195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مِنْظَار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9000" y="290195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CDB8E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9000" y="290195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مِ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ا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7000" y="3486150"/>
            <a:ext cx="1587500" cy="508000"/>
          </a:xfrm>
          <a:prstGeom prst="roundRect">
            <a:avLst>
              <a:gd name="adj" fmla="val 20000"/>
            </a:avLst>
          </a:prstGeom>
          <a:solidFill>
            <a:srgbClr val="FDF0C2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حَرَثَ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10000" y="348615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CDB8E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10000" y="348615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300" b="1" lang="ar-SA">
                <a:solidFill>
                  <a:srgbClr val="23945E"/>
                </a:solidFill>
                <a:latin typeface="Arial"/>
                <a:cs typeface="Arial"/>
              </a:rPr>
              <a:t>مِحْرَاث / حَرَّاثَة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9000" y="348615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CDB8E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9000" y="348615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300" b="1" lang="ar-SA">
                <a:solidFill>
                  <a:srgbClr val="23945E"/>
                </a:solidFill>
                <a:latin typeface="Arial"/>
                <a:cs typeface="Arial"/>
              </a:rPr>
              <a:t>مِ</a:t>
            </a:r>
            <a:r>
              <a:rPr sz="23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3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300" b="1" lang="ar-SA">
                <a:solidFill>
                  <a:srgbClr val="23945E"/>
                </a:solidFill>
                <a:latin typeface="Arial"/>
                <a:cs typeface="Arial"/>
              </a:rPr>
              <a:t>ا</a:t>
            </a:r>
            <a:r>
              <a:rPr sz="23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  <a:r>
              <a:rPr sz="2300" b="1" lang="ar-SA">
                <a:solidFill>
                  <a:srgbClr val="23945E"/>
                </a:solidFill>
                <a:latin typeface="Arial"/>
                <a:cs typeface="Arial"/>
              </a:rPr>
              <a:t> / </a:t>
            </a:r>
            <a:r>
              <a:rPr sz="23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2300" b="1" lang="ar-SA">
                <a:solidFill>
                  <a:srgbClr val="D6336C"/>
                </a:solidFill>
                <a:latin typeface="Arial"/>
                <a:cs typeface="Arial"/>
              </a:rPr>
              <a:t>عَّ</a:t>
            </a:r>
            <a:r>
              <a:rPr sz="2300" b="1" lang="ar-SA">
                <a:solidFill>
                  <a:srgbClr val="23945E"/>
                </a:solidFill>
                <a:latin typeface="Arial"/>
                <a:cs typeface="Arial"/>
              </a:rPr>
              <a:t>ا</a:t>
            </a:r>
            <a:r>
              <a:rPr sz="23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2300" b="1" lang="ar-SA">
                <a:solidFill>
                  <a:srgbClr val="23945E"/>
                </a:solidFill>
                <a:latin typeface="Arial"/>
                <a:cs typeface="Arial"/>
              </a:rPr>
              <a:t>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77000" y="4070350"/>
            <a:ext cx="1587500" cy="508000"/>
          </a:xfrm>
          <a:prstGeom prst="roundRect">
            <a:avLst>
              <a:gd name="adj" fmla="val 20000"/>
            </a:avLst>
          </a:prstGeom>
          <a:solidFill>
            <a:srgbClr val="FDF0C2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نَشَرَ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10000" y="407035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CDB8E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10000" y="407035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مِنْشَار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9000" y="407035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CDB8E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9000" y="407035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مِ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ا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77000" y="4654550"/>
            <a:ext cx="1587500" cy="508000"/>
          </a:xfrm>
          <a:prstGeom prst="roundRect">
            <a:avLst>
              <a:gd name="adj" fmla="val 20000"/>
            </a:avLst>
          </a:prstGeom>
          <a:solidFill>
            <a:srgbClr val="FDF0C2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غَسَلَ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10000" y="465455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CDB8E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10000" y="465455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غَسَّالَة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9000" y="465455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CDB8E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9000" y="465455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عَّ</a:t>
            </a:r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ا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77000" y="5238750"/>
            <a:ext cx="1587500" cy="508000"/>
          </a:xfrm>
          <a:prstGeom prst="roundRect">
            <a:avLst>
              <a:gd name="adj" fmla="val 20000"/>
            </a:avLst>
          </a:prstGeom>
          <a:solidFill>
            <a:srgbClr val="FDF0C2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شَرَطَ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10000" y="523875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CDB8E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10000" y="5238750"/>
            <a:ext cx="2540000" cy="508000"/>
          </a:xfrm>
          <a:prstGeom prst="roundRect">
            <a:avLst>
              <a:gd name="adj" fmla="val 2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مِشْرَط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9000" y="523875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CDB8E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9000" y="5238750"/>
            <a:ext cx="2794000" cy="508000"/>
          </a:xfrm>
          <a:prstGeom prst="roundRect">
            <a:avLst>
              <a:gd name="adj" fmla="val 2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مِ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6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60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"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be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9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89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90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5"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be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6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60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7"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be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9"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1"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1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73"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4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5"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6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97"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09"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4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4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21"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44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3" display="0" masterRel="sameClick">
                                          <p:stCondLst>
                                            <p:cond evt="begin" delay="0">
                                              <p:tn val="128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46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45" display="0" masterRel="sameClick">
                                          <p:stCondLst>
                                            <p:cond evt="begin" delay="0">
                                              <p:tn val="140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49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57"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51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2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4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69"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54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4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4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81" display="0" masterRel="sameClick">
                                          <p:stCondLst>
                                            <p:cond evt="begin" delay="0">
                                              <p:tn val="176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56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</p:bldLst>
  </p:timing>
  <p:transition spd="med">
    <p:push dir="r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سؤالٌ سريع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❓ استراتيجية الأسئلة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١٣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500" y="1333500"/>
            <a:ext cx="10541000" cy="762000"/>
          </a:xfrm>
          <a:prstGeom prst="roundRect">
            <a:avLst>
              <a:gd name="adj" fmla="val 28333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000" b="1" lang="ar-SA">
                <a:solidFill>
                  <a:srgbClr val="2D1F4A"/>
                </a:solidFill>
                <a:latin typeface="Arial"/>
                <a:cs typeface="Arial"/>
              </a:rPr>
              <a:t>أيُّ الكلماتِ الآتيةِ </a:t>
            </a:r>
            <a:r>
              <a:rPr sz="3000" b="1" lang="ar-SA">
                <a:solidFill>
                  <a:srgbClr val="D6336C"/>
                </a:solidFill>
                <a:latin typeface="Arial"/>
                <a:cs typeface="Arial"/>
              </a:rPr>
              <a:t>اسمُ آلةٍ</a:t>
            </a:r>
            <a:r>
              <a:rPr sz="3000" b="1" lang="ar-SA">
                <a:solidFill>
                  <a:srgbClr val="2D1F4A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3000" y="4667250"/>
            <a:ext cx="4826000" cy="533400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 w="2540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D9506F"/>
                </a:solidFill>
                <a:latin typeface="Arial"/>
                <a:cs typeface="Arial"/>
              </a:rPr>
              <a:t>حاولي مرة أخرى 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83000" y="4667250"/>
            <a:ext cx="4826000" cy="533400"/>
          </a:xfrm>
          <a:prstGeom prst="roundRect">
            <a:avLst>
              <a:gd name="adj" fmla="val 5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23945E"/>
                </a:solidFill>
                <a:latin typeface="Arial"/>
                <a:cs typeface="Arial"/>
              </a:rPr>
              <a:t>أحسنتِ! 👏 إجابة صحيحة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0500" y="5334000"/>
            <a:ext cx="9271000" cy="635000"/>
          </a:xfrm>
          <a:prstGeom prst="roundRect">
            <a:avLst>
              <a:gd name="adj" fmla="val 28000"/>
            </a:avLst>
          </a:prstGeom>
          <a:solidFill>
            <a:srgbClr val="FFF9E3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4F2F86"/>
                </a:solidFill>
                <a:latin typeface="Arial"/>
                <a:cs typeface="Arial"/>
              </a:rPr>
              <a:t>(مِنْشَار) أداةٌ ننشرُ بها الخشبَ، على وزنِ 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مِفْعَال</a:t>
            </a:r>
            <a:r>
              <a:rPr sz="2200" b="1" lang="ar-SA">
                <a:solidFill>
                  <a:srgbClr val="4F2F86"/>
                </a:solidFill>
                <a:latin typeface="Arial"/>
                <a:cs typeface="Arial"/>
              </a:rPr>
              <a:t> 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0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✍️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كَاتِب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✍️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كَاتِب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5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📦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مَكْتُوب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5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📦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مَكْتُوب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🪚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مِنْشَار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00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E2F6EA"/>
          </a:solidFill>
          <a:ln w="381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23945E"/>
                </a:solidFill>
                <a:latin typeface="Arial"/>
                <a:cs typeface="Arial"/>
              </a:rPr>
              <a:t>✅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🪚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مِنْشَار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5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📖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كِتَابَة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5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📖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كِتَابَة</a:t>
            </a:r>
          </a:p>
        </p:txBody>
      </p:sp>
      <p:pic>
        <p:nvPicPr>
          <p:cNvPr id="13" name="Picture 12" descr="confet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1206500"/>
            <a:ext cx="10795000" cy="444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0"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4"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9"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5" grpId="0" animBg="1"/>
      <p:bldP spid="10" grpId="0" animBg="1"/>
      <p:bldP spid="17" grpId="0" animBg="1"/>
      <p:bldP spid="19" grpId="0" animBg="1"/>
      <p:bldP spid="11" grpId="0" animBg="1"/>
      <p:bldP spid="12" grpId="0" animBg="1"/>
      <p:bldP spid="21" grpId="0" animBg="1"/>
    </p:bldLst>
  </p:timing>
  <p:transition spd="med">
    <p:zoom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أينَ اسمُ الآلةِ؟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🔎 لاحظي واكتشفي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١٤ / ٢٤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1270000"/>
            <a:ext cx="8890000" cy="406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حدّدي اسمَ الآلةِ في كلِّ جملةٍ، ثمّ اضغطي ؟ للتحقُّق 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500" y="1841500"/>
            <a:ext cx="10541000" cy="8572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1" name="Oval 10"/>
          <p:cNvSpPr/>
          <p:nvPr/>
        </p:nvSpPr>
        <p:spPr>
          <a:xfrm>
            <a:off x="10795000" y="2063750"/>
            <a:ext cx="419100" cy="419100"/>
          </a:xfrm>
          <a:prstGeom prst="ellipse">
            <a:avLst/>
          </a:prstGeom>
          <a:solidFill>
            <a:srgbClr val="FBE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4F2F86"/>
                </a:solidFill>
                <a:latin typeface="Arial"/>
                <a:cs typeface="Arial"/>
              </a:rPr>
              <a:t>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6000" y="1905000"/>
            <a:ext cx="7112000" cy="73025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600" b="1" lang="ar-SA">
                <a:solidFill>
                  <a:srgbClr val="2D1F4A"/>
                </a:solidFill>
                <a:latin typeface="Arial"/>
                <a:cs typeface="Arial"/>
              </a:rPr>
              <a:t>نَزَعْتُ المَسَامِيرَ مِنَ اللُّعْبَةِ.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6000" y="2000250"/>
            <a:ext cx="2413000" cy="546100"/>
          </a:xfrm>
          <a:prstGeom prst="roundRect">
            <a:avLst>
              <a:gd name="adj" fmla="val 25581"/>
            </a:avLst>
          </a:prstGeom>
          <a:solidFill>
            <a:srgbClr val="F4EEFC"/>
          </a:solidFill>
          <a:ln w="2540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6000" y="2000250"/>
            <a:ext cx="2413000" cy="546100"/>
          </a:xfrm>
          <a:prstGeom prst="roundRect">
            <a:avLst>
              <a:gd name="adj" fmla="val 25581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مِسْمَار ← </a:t>
            </a:r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مِ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ا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5500" y="2825750"/>
            <a:ext cx="10541000" cy="8572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6" name="Oval 15"/>
          <p:cNvSpPr/>
          <p:nvPr/>
        </p:nvSpPr>
        <p:spPr>
          <a:xfrm>
            <a:off x="10795000" y="3048000"/>
            <a:ext cx="419100" cy="419100"/>
          </a:xfrm>
          <a:prstGeom prst="ellipse">
            <a:avLst/>
          </a:prstGeom>
          <a:solidFill>
            <a:srgbClr val="FBE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4F2F86"/>
                </a:solidFill>
                <a:latin typeface="Arial"/>
                <a:cs typeface="Arial"/>
              </a:rPr>
              <a:t>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6000" y="2889250"/>
            <a:ext cx="7112000" cy="73025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600" b="1" lang="ar-SA">
                <a:solidFill>
                  <a:srgbClr val="2D1F4A"/>
                </a:solidFill>
                <a:latin typeface="Arial"/>
                <a:cs typeface="Arial"/>
              </a:rPr>
              <a:t>اسْتَمَعْتُ إِلَى الأَخْبَارِ مِنَ المِذْيَاعِ.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6000" y="2984500"/>
            <a:ext cx="2413000" cy="546100"/>
          </a:xfrm>
          <a:prstGeom prst="roundRect">
            <a:avLst>
              <a:gd name="adj" fmla="val 25581"/>
            </a:avLst>
          </a:prstGeom>
          <a:solidFill>
            <a:srgbClr val="F4EEFC"/>
          </a:solidFill>
          <a:ln w="2540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6000" y="2984500"/>
            <a:ext cx="2413000" cy="546100"/>
          </a:xfrm>
          <a:prstGeom prst="roundRect">
            <a:avLst>
              <a:gd name="adj" fmla="val 25581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مِذْيَاع ← </a:t>
            </a:r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مِ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ا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500" y="3810000"/>
            <a:ext cx="10541000" cy="8572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1" name="Oval 20"/>
          <p:cNvSpPr/>
          <p:nvPr/>
        </p:nvSpPr>
        <p:spPr>
          <a:xfrm>
            <a:off x="10795000" y="4032250"/>
            <a:ext cx="419100" cy="419100"/>
          </a:xfrm>
          <a:prstGeom prst="ellipse">
            <a:avLst/>
          </a:prstGeom>
          <a:solidFill>
            <a:srgbClr val="FBE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4F2F86"/>
                </a:solidFill>
                <a:latin typeface="Arial"/>
                <a:cs typeface="Arial"/>
              </a:rPr>
              <a:t>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6000" y="3873500"/>
            <a:ext cx="7112000" cy="73025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600" b="1" lang="ar-SA">
                <a:solidFill>
                  <a:srgbClr val="2D1F4A"/>
                </a:solidFill>
                <a:latin typeface="Arial"/>
                <a:cs typeface="Arial"/>
              </a:rPr>
              <a:t>فِي مَعْرِضِ الكِتَابِ عَدَّادٌ إِلِكْتُرُونِيٌّ يُحْصِي الزُّوَّارَ.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6000" y="3968750"/>
            <a:ext cx="2413000" cy="546100"/>
          </a:xfrm>
          <a:prstGeom prst="roundRect">
            <a:avLst>
              <a:gd name="adj" fmla="val 25581"/>
            </a:avLst>
          </a:prstGeom>
          <a:solidFill>
            <a:srgbClr val="F4EEFC"/>
          </a:solidFill>
          <a:ln w="2540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6000" y="3968750"/>
            <a:ext cx="2413000" cy="546100"/>
          </a:xfrm>
          <a:prstGeom prst="roundRect">
            <a:avLst>
              <a:gd name="adj" fmla="val 25581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عَدَّاد ← 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عَّ</a:t>
            </a:r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ا</a:t>
            </a:r>
            <a:r>
              <a:rPr sz="25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500" y="4794250"/>
            <a:ext cx="10541000" cy="8572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6" name="Oval 25"/>
          <p:cNvSpPr/>
          <p:nvPr/>
        </p:nvSpPr>
        <p:spPr>
          <a:xfrm>
            <a:off x="10795000" y="5016500"/>
            <a:ext cx="419100" cy="419100"/>
          </a:xfrm>
          <a:prstGeom prst="ellipse">
            <a:avLst/>
          </a:prstGeom>
          <a:solidFill>
            <a:srgbClr val="FBE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4F2F86"/>
                </a:solidFill>
                <a:latin typeface="Arial"/>
                <a:cs typeface="Arial"/>
              </a:rPr>
              <a:t>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000" y="4857750"/>
            <a:ext cx="7112000" cy="73025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600" b="1" lang="ar-SA">
                <a:solidFill>
                  <a:srgbClr val="2D1F4A"/>
                </a:solidFill>
                <a:latin typeface="Arial"/>
                <a:cs typeface="Arial"/>
              </a:rPr>
              <a:t>القَلَمُ رَمْزٌ يَرْفَعُ وَعْيَ المُجْتَمَعِ.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6000" y="4953000"/>
            <a:ext cx="2413000" cy="546100"/>
          </a:xfrm>
          <a:prstGeom prst="roundRect">
            <a:avLst>
              <a:gd name="adj" fmla="val 25581"/>
            </a:avLst>
          </a:prstGeom>
          <a:solidFill>
            <a:srgbClr val="F4EEFC"/>
          </a:solidFill>
          <a:ln w="25400">
            <a:solidFill>
              <a:srgbClr val="CDB8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9A7FD6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6000" y="4953000"/>
            <a:ext cx="2413000" cy="546100"/>
          </a:xfrm>
          <a:prstGeom prst="roundRect">
            <a:avLst>
              <a:gd name="adj" fmla="val 25581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قَلَم ← </a:t>
            </a:r>
            <a:r>
              <a:rPr sz="2500" b="1" lang="ar-SA">
                <a:solidFill>
                  <a:srgbClr val="23945E"/>
                </a:solidFill>
                <a:latin typeface="Arial"/>
                <a:cs typeface="Arial"/>
              </a:rPr>
              <a:t>جامِدٌ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"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5"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7"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9"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8" grpId="0" animBg="1"/>
      <p:bldP spid="19" grpId="0" animBg="1"/>
      <p:bldP spid="23" grpId="0" animBg="1"/>
      <p:bldP spid="24" grpId="0" animBg="1"/>
      <p:bldP spid="28" grpId="0" animBg="1"/>
      <p:bldP spid="29" grpId="0" animBg="1"/>
    </p:bldLst>
  </p:timing>
  <p:transition spd="med">
    <p:push dir="r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ما الوزنُ؟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🎯 اختاري الإجابة الصحيحة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١٥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500" y="1333500"/>
            <a:ext cx="10541000" cy="762000"/>
          </a:xfrm>
          <a:prstGeom prst="roundRect">
            <a:avLst>
              <a:gd name="adj" fmla="val 28333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000" b="1" lang="ar-SA">
                <a:solidFill>
                  <a:srgbClr val="2D1F4A"/>
                </a:solidFill>
                <a:latin typeface="Arial"/>
                <a:cs typeface="Arial"/>
              </a:rPr>
              <a:t>ما وزنُ كلمةِ (مِكْنَسَة)؟ 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3000" y="4667250"/>
            <a:ext cx="4826000" cy="533400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 w="2540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D9506F"/>
                </a:solidFill>
                <a:latin typeface="Arial"/>
                <a:cs typeface="Arial"/>
              </a:rPr>
              <a:t>حاولي مرة أخرى 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83000" y="4667250"/>
            <a:ext cx="4826000" cy="533400"/>
          </a:xfrm>
          <a:prstGeom prst="roundRect">
            <a:avLst>
              <a:gd name="adj" fmla="val 5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23945E"/>
                </a:solidFill>
                <a:latin typeface="Arial"/>
                <a:cs typeface="Arial"/>
              </a:rPr>
              <a:t>أحسنتِ! 👏 إجابة صحيحة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0500" y="5334000"/>
            <a:ext cx="9271000" cy="635000"/>
          </a:xfrm>
          <a:prstGeom prst="roundRect">
            <a:avLst>
              <a:gd name="adj" fmla="val 28000"/>
            </a:avLst>
          </a:prstGeom>
          <a:solidFill>
            <a:srgbClr val="FFF9E3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4F2F86"/>
                </a:solidFill>
                <a:latin typeface="Arial"/>
                <a:cs typeface="Arial"/>
              </a:rPr>
              <a:t>مِكْنَسَة ← 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مِفْعَلَة</a:t>
            </a:r>
            <a:r>
              <a:rPr sz="2200" b="1" lang="ar-SA">
                <a:solidFill>
                  <a:srgbClr val="4F2F86"/>
                </a:solidFill>
                <a:latin typeface="Arial"/>
                <a:cs typeface="Arial"/>
              </a:rPr>
              <a:t> مثل: مِلْعَقَة، مِسْطَرَة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0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1️⃣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مِ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ا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1️⃣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مِ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ا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5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2️⃣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مِ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5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2️⃣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مِ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3️⃣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مِ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00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E2F6EA"/>
          </a:solidFill>
          <a:ln w="381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23945E"/>
                </a:solidFill>
                <a:latin typeface="Arial"/>
                <a:cs typeface="Arial"/>
              </a:rPr>
              <a:t>✅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3️⃣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مِ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فْ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عَ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5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4️⃣   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ا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عِ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5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4️⃣   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ا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عِ</a:t>
            </a:r>
            <a:r>
              <a:rPr sz="28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ة</a:t>
            </a:r>
          </a:p>
        </p:txBody>
      </p:sp>
      <p:pic>
        <p:nvPicPr>
          <p:cNvPr id="13" name="Picture 12" descr="confet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1206500"/>
            <a:ext cx="10795000" cy="444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0"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4"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9"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5" grpId="0" animBg="1"/>
      <p:bldP spid="10" grpId="0" animBg="1"/>
      <p:bldP spid="17" grpId="0" animBg="1"/>
      <p:bldP spid="19" grpId="0" animBg="1"/>
      <p:bldP spid="11" grpId="0" animBg="1"/>
      <p:bldP spid="12" grpId="0" animBg="1"/>
      <p:bldP spid="21" grpId="0" animBg="1"/>
    </p:bldLst>
  </p:timing>
  <p:transition spd="med">
    <p:zoom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صح ✔ أم خطأ ✖ 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✅ صح أم خطأ؟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١٦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500" y="1397000"/>
            <a:ext cx="10541000" cy="10477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0" name="TextBox 9"/>
          <p:cNvSpPr txBox="1"/>
          <p:nvPr/>
        </p:nvSpPr>
        <p:spPr>
          <a:xfrm>
            <a:off x="3302000" y="1473200"/>
            <a:ext cx="79375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اسمُ الآلةِ مُشتَقٌّ منَ الفعلِ الثلاثيِّ للدّلالةِ على الأداةِ.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2000" y="2000250"/>
            <a:ext cx="7874000" cy="342900"/>
          </a:xfrm>
          <a:prstGeom prst="roundRect">
            <a:avLst>
              <a:gd name="adj" fmla="val 29629"/>
            </a:avLst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r" rtl="1"/>
            <a:r>
              <a:rPr sz="1700" b="1" lang="ar-SA">
                <a:solidFill>
                  <a:srgbClr val="D9506F"/>
                </a:solidFill>
                <a:latin typeface="Arial"/>
                <a:cs typeface="Arial"/>
              </a:rPr>
              <a:t>حاولي مرة أخرى 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2000" y="2000250"/>
            <a:ext cx="7874000" cy="342900"/>
          </a:xfrm>
          <a:prstGeom prst="roundRect">
            <a:avLst>
              <a:gd name="adj" fmla="val 29629"/>
            </a:avLst>
          </a:prstGeom>
          <a:solidFill>
            <a:srgbClr val="E2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r" rtl="1"/>
            <a:r>
              <a:rPr sz="1700" b="1" lang="ar-SA">
                <a:solidFill>
                  <a:srgbClr val="23945E"/>
                </a:solidFill>
                <a:latin typeface="Arial"/>
                <a:cs typeface="Arial"/>
              </a:rPr>
              <a:t>صحيح ✔ هذا تعريفُ اسمِ الآلةِ.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59000" y="1682750"/>
            <a:ext cx="984250" cy="482600"/>
          </a:xfrm>
          <a:prstGeom prst="roundRect">
            <a:avLst>
              <a:gd name="adj" fmla="val 28947"/>
            </a:avLst>
          </a:prstGeom>
          <a:solidFill>
            <a:srgbClr val="E2F6EA"/>
          </a:solidFill>
          <a:ln w="3175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23945E"/>
                </a:solidFill>
                <a:latin typeface="Arial"/>
                <a:cs typeface="Arial"/>
              </a:rPr>
              <a:t>✔ صح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20900" y="1644650"/>
            <a:ext cx="1060450" cy="558800"/>
          </a:xfrm>
          <a:prstGeom prst="roundRect">
            <a:avLst>
              <a:gd name="adj" fmla="val 29545"/>
            </a:avLst>
          </a:prstGeom>
          <a:noFill/>
          <a:ln w="635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5" name="Rounded Rectangle 14"/>
          <p:cNvSpPr/>
          <p:nvPr/>
        </p:nvSpPr>
        <p:spPr>
          <a:xfrm>
            <a:off x="1047750" y="1682750"/>
            <a:ext cx="984250" cy="482600"/>
          </a:xfrm>
          <a:prstGeom prst="roundRect">
            <a:avLst>
              <a:gd name="adj" fmla="val 28947"/>
            </a:avLst>
          </a:prstGeom>
          <a:solidFill>
            <a:srgbClr val="FDE9EE"/>
          </a:solidFill>
          <a:ln w="3175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D9506F"/>
                </a:solidFill>
                <a:latin typeface="Arial"/>
                <a:cs typeface="Arial"/>
              </a:rPr>
              <a:t>✖ خطأ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500" y="2571750"/>
            <a:ext cx="10541000" cy="10477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7" name="TextBox 16"/>
          <p:cNvSpPr txBox="1"/>
          <p:nvPr/>
        </p:nvSpPr>
        <p:spPr>
          <a:xfrm>
            <a:off x="3302000" y="2647950"/>
            <a:ext cx="79375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كلمةُ (فَاتِح) اسمُ آلةٍ.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2000" y="3175000"/>
            <a:ext cx="7874000" cy="342900"/>
          </a:xfrm>
          <a:prstGeom prst="roundRect">
            <a:avLst>
              <a:gd name="adj" fmla="val 29629"/>
            </a:avLst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r" rtl="1"/>
            <a:r>
              <a:rPr sz="1700" b="1" lang="ar-SA">
                <a:solidFill>
                  <a:srgbClr val="D9506F"/>
                </a:solidFill>
                <a:latin typeface="Arial"/>
                <a:cs typeface="Arial"/>
              </a:rPr>
              <a:t>حاولي مرة أخرى 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02000" y="3175000"/>
            <a:ext cx="7874000" cy="342900"/>
          </a:xfrm>
          <a:prstGeom prst="roundRect">
            <a:avLst>
              <a:gd name="adj" fmla="val 29629"/>
            </a:avLst>
          </a:prstGeom>
          <a:solidFill>
            <a:srgbClr val="E2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r" rtl="1"/>
            <a:r>
              <a:rPr sz="1700" b="1" lang="ar-SA">
                <a:solidFill>
                  <a:srgbClr val="23945E"/>
                </a:solidFill>
                <a:latin typeface="Arial"/>
                <a:cs typeface="Arial"/>
              </a:rPr>
              <a:t>خطأ ✖ (فَاتِح) اسمُ فاعلٍ على وزنِ فَاعِل.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59000" y="2857500"/>
            <a:ext cx="984250" cy="482600"/>
          </a:xfrm>
          <a:prstGeom prst="roundRect">
            <a:avLst>
              <a:gd name="adj" fmla="val 28947"/>
            </a:avLst>
          </a:prstGeom>
          <a:solidFill>
            <a:srgbClr val="E2F6EA"/>
          </a:solidFill>
          <a:ln w="3175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23945E"/>
                </a:solidFill>
                <a:latin typeface="Arial"/>
                <a:cs typeface="Arial"/>
              </a:rPr>
              <a:t>✔ صح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50" y="2857500"/>
            <a:ext cx="984250" cy="482600"/>
          </a:xfrm>
          <a:prstGeom prst="roundRect">
            <a:avLst>
              <a:gd name="adj" fmla="val 28947"/>
            </a:avLst>
          </a:prstGeom>
          <a:solidFill>
            <a:srgbClr val="FDE9EE"/>
          </a:solidFill>
          <a:ln w="3175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D9506F"/>
                </a:solidFill>
                <a:latin typeface="Arial"/>
                <a:cs typeface="Arial"/>
              </a:rPr>
              <a:t>✖ خطأ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9650" y="2819400"/>
            <a:ext cx="1060450" cy="558800"/>
          </a:xfrm>
          <a:prstGeom prst="roundRect">
            <a:avLst>
              <a:gd name="adj" fmla="val 29545"/>
            </a:avLst>
          </a:prstGeom>
          <a:noFill/>
          <a:ln w="635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3" name="Rounded Rectangle 22"/>
          <p:cNvSpPr/>
          <p:nvPr/>
        </p:nvSpPr>
        <p:spPr>
          <a:xfrm>
            <a:off x="825500" y="3746500"/>
            <a:ext cx="10541000" cy="10477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4" name="TextBox 23"/>
          <p:cNvSpPr txBox="1"/>
          <p:nvPr/>
        </p:nvSpPr>
        <p:spPr>
          <a:xfrm>
            <a:off x="3302000" y="3822700"/>
            <a:ext cx="79375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كلمةُ (سِكِّين) اسمُ آلةٍ جامِدٌ.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02000" y="4349750"/>
            <a:ext cx="7874000" cy="342900"/>
          </a:xfrm>
          <a:prstGeom prst="roundRect">
            <a:avLst>
              <a:gd name="adj" fmla="val 29629"/>
            </a:avLst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r" rtl="1"/>
            <a:r>
              <a:rPr sz="1700" b="1" lang="ar-SA">
                <a:solidFill>
                  <a:srgbClr val="D9506F"/>
                </a:solidFill>
                <a:latin typeface="Arial"/>
                <a:cs typeface="Arial"/>
              </a:rPr>
              <a:t>حاولي مرة أخرى 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02000" y="4349750"/>
            <a:ext cx="7874000" cy="342900"/>
          </a:xfrm>
          <a:prstGeom prst="roundRect">
            <a:avLst>
              <a:gd name="adj" fmla="val 29629"/>
            </a:avLst>
          </a:prstGeom>
          <a:solidFill>
            <a:srgbClr val="E2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r" rtl="1"/>
            <a:r>
              <a:rPr sz="1700" b="1" lang="ar-SA">
                <a:solidFill>
                  <a:srgbClr val="23945E"/>
                </a:solidFill>
                <a:latin typeface="Arial"/>
                <a:cs typeface="Arial"/>
              </a:rPr>
              <a:t>صحيح ✔ سَماعيّةٌ ليسَ لها فعلٌ.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59000" y="4032250"/>
            <a:ext cx="984250" cy="482600"/>
          </a:xfrm>
          <a:prstGeom prst="roundRect">
            <a:avLst>
              <a:gd name="adj" fmla="val 28947"/>
            </a:avLst>
          </a:prstGeom>
          <a:solidFill>
            <a:srgbClr val="E2F6EA"/>
          </a:solidFill>
          <a:ln w="3175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23945E"/>
                </a:solidFill>
                <a:latin typeface="Arial"/>
                <a:cs typeface="Arial"/>
              </a:rPr>
              <a:t>✔ صح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20900" y="3994150"/>
            <a:ext cx="1060450" cy="558800"/>
          </a:xfrm>
          <a:prstGeom prst="roundRect">
            <a:avLst>
              <a:gd name="adj" fmla="val 29545"/>
            </a:avLst>
          </a:prstGeom>
          <a:noFill/>
          <a:ln w="635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9" name="Rounded Rectangle 28"/>
          <p:cNvSpPr/>
          <p:nvPr/>
        </p:nvSpPr>
        <p:spPr>
          <a:xfrm>
            <a:off x="1047750" y="4032250"/>
            <a:ext cx="984250" cy="482600"/>
          </a:xfrm>
          <a:prstGeom prst="roundRect">
            <a:avLst>
              <a:gd name="adj" fmla="val 28947"/>
            </a:avLst>
          </a:prstGeom>
          <a:solidFill>
            <a:srgbClr val="FDE9EE"/>
          </a:solidFill>
          <a:ln w="3175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D9506F"/>
                </a:solidFill>
                <a:latin typeface="Arial"/>
                <a:cs typeface="Arial"/>
              </a:rPr>
              <a:t>✖ خطأ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5500" y="4921250"/>
            <a:ext cx="10541000" cy="10477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1" name="TextBox 30"/>
          <p:cNvSpPr txBox="1"/>
          <p:nvPr/>
        </p:nvSpPr>
        <p:spPr>
          <a:xfrm>
            <a:off x="3302000" y="4997450"/>
            <a:ext cx="79375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كلمةُ (ثَلَّاجَة) على وزنِ (مِفْعَال).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02000" y="5524500"/>
            <a:ext cx="7874000" cy="342900"/>
          </a:xfrm>
          <a:prstGeom prst="roundRect">
            <a:avLst>
              <a:gd name="adj" fmla="val 29629"/>
            </a:avLst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r" rtl="1"/>
            <a:r>
              <a:rPr sz="1700" b="1" lang="ar-SA">
                <a:solidFill>
                  <a:srgbClr val="D9506F"/>
                </a:solidFill>
                <a:latin typeface="Arial"/>
                <a:cs typeface="Arial"/>
              </a:rPr>
              <a:t>حاولي مرة أخرى 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02000" y="5524500"/>
            <a:ext cx="7874000" cy="342900"/>
          </a:xfrm>
          <a:prstGeom prst="roundRect">
            <a:avLst>
              <a:gd name="adj" fmla="val 29629"/>
            </a:avLst>
          </a:prstGeom>
          <a:solidFill>
            <a:srgbClr val="E2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r" rtl="1"/>
            <a:r>
              <a:rPr sz="1700" b="1" lang="ar-SA">
                <a:solidFill>
                  <a:srgbClr val="23945E"/>
                </a:solidFill>
                <a:latin typeface="Arial"/>
                <a:cs typeface="Arial"/>
              </a:rPr>
              <a:t>خطأ ✖ بل على وزنِ (فَعَّالَة).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59000" y="5207000"/>
            <a:ext cx="984250" cy="482600"/>
          </a:xfrm>
          <a:prstGeom prst="roundRect">
            <a:avLst>
              <a:gd name="adj" fmla="val 28947"/>
            </a:avLst>
          </a:prstGeom>
          <a:solidFill>
            <a:srgbClr val="E2F6EA"/>
          </a:solidFill>
          <a:ln w="3175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23945E"/>
                </a:solidFill>
                <a:latin typeface="Arial"/>
                <a:cs typeface="Arial"/>
              </a:rPr>
              <a:t>✔ صح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7750" y="5207000"/>
            <a:ext cx="984250" cy="482600"/>
          </a:xfrm>
          <a:prstGeom prst="roundRect">
            <a:avLst>
              <a:gd name="adj" fmla="val 28947"/>
            </a:avLst>
          </a:prstGeom>
          <a:solidFill>
            <a:srgbClr val="FDE9EE"/>
          </a:solidFill>
          <a:ln w="3175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D9506F"/>
                </a:solidFill>
                <a:latin typeface="Arial"/>
                <a:cs typeface="Arial"/>
              </a:rPr>
              <a:t>✖ خطأ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9650" y="5168900"/>
            <a:ext cx="1060450" cy="558800"/>
          </a:xfrm>
          <a:prstGeom prst="roundRect">
            <a:avLst>
              <a:gd name="adj" fmla="val 29545"/>
            </a:avLst>
          </a:prstGeom>
          <a:noFill/>
          <a:ln w="635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0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3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2"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9"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0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8"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2"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7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4"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9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71"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4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0"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11" grpId="0" animBg="1"/>
      <p:bldP spid="18" grpId="0" animBg="1"/>
      <p:bldP spid="22" grpId="0" animBg="1"/>
      <p:bldP spid="19" grpId="0" animBg="1"/>
      <p:bldP spid="28" grpId="0" animBg="1"/>
      <p:bldP spid="26" grpId="0" animBg="1"/>
      <p:bldP spid="25" grpId="0" animBg="1"/>
      <p:bldP spid="32" grpId="0" animBg="1"/>
      <p:bldP spid="36" grpId="0" animBg="1"/>
      <p:bldP spid="33" grpId="0" animBg="1"/>
    </p:bldLst>
  </p:timing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كلمةٌ واحدةٌ.. ومعنيان!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🔮 ماذا تتوقّعين؟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١٧ / ٢٤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6000" y="1238250"/>
            <a:ext cx="5080000" cy="698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5000" b="1" lang="ar-SA">
                <a:solidFill>
                  <a:srgbClr val="D6336C"/>
                </a:solidFill>
                <a:latin typeface="Arial"/>
                <a:cs typeface="Arial"/>
              </a:rPr>
              <a:t>رَافِعَة</a:t>
            </a:r>
            <a:r>
              <a:rPr sz="2000" b="1" lang="ar-SA">
                <a:solidFill>
                  <a:srgbClr val="7D5BBF"/>
                </a:solidFill>
                <a:latin typeface="Arial"/>
                <a:cs typeface="Arial"/>
              </a:rPr>
              <a:t>   على وزنِ: </a:t>
            </a:r>
            <a:r>
              <a:rPr sz="2400" b="1" lang="ar-SA">
                <a:solidFill>
                  <a:srgbClr val="D6336C"/>
                </a:solidFill>
                <a:latin typeface="Arial"/>
                <a:cs typeface="Arial"/>
              </a:rPr>
              <a:t>فَ</a:t>
            </a:r>
            <a:r>
              <a:rPr sz="2400" b="1" lang="ar-SA">
                <a:solidFill>
                  <a:srgbClr val="7D5BBF"/>
                </a:solidFill>
                <a:latin typeface="Arial"/>
                <a:cs typeface="Arial"/>
              </a:rPr>
              <a:t>ا</a:t>
            </a:r>
            <a:r>
              <a:rPr sz="2400" b="1" lang="ar-SA">
                <a:solidFill>
                  <a:srgbClr val="D6336C"/>
                </a:solidFill>
                <a:latin typeface="Arial"/>
                <a:cs typeface="Arial"/>
              </a:rPr>
              <a:t>عِ</a:t>
            </a:r>
            <a:r>
              <a:rPr sz="2400" b="1" lang="ar-SA">
                <a:solidFill>
                  <a:srgbClr val="D6336C"/>
                </a:solidFill>
                <a:latin typeface="Arial"/>
                <a:cs typeface="Arial"/>
              </a:rPr>
              <a:t>لَ</a:t>
            </a:r>
            <a:r>
              <a:rPr sz="2400" b="1" lang="ar-SA">
                <a:solidFill>
                  <a:srgbClr val="7D5BBF"/>
                </a:solidFill>
                <a:latin typeface="Arial"/>
                <a:cs typeface="Arial"/>
              </a:rPr>
              <a:t>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1000" y="1905000"/>
            <a:ext cx="8890000" cy="381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توقّعي: هل (رافعة) اسمُ آلةٍ أم اسمُ فاعلٍ في كلِّ جملة؟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000" y="2413000"/>
            <a:ext cx="5143500" cy="2667000"/>
          </a:xfrm>
          <a:prstGeom prst="roundRect">
            <a:avLst>
              <a:gd name="adj" fmla="val 8095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2" name="TextBox 11"/>
          <p:cNvSpPr txBox="1"/>
          <p:nvPr/>
        </p:nvSpPr>
        <p:spPr>
          <a:xfrm>
            <a:off x="6413500" y="2540000"/>
            <a:ext cx="4762500" cy="825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700" b="1" lang="ar-SA">
                <a:solidFill>
                  <a:srgbClr val="2D1F4A"/>
                </a:solidFill>
                <a:latin typeface="Arial"/>
                <a:cs typeface="Arial"/>
              </a:rPr>
              <a:t>رَفَعَتِ </a:t>
            </a:r>
            <a:r>
              <a:rPr sz="2700" b="1" lang="ar-SA">
                <a:solidFill>
                  <a:srgbClr val="D6336C"/>
                </a:solidFill>
                <a:latin typeface="Arial"/>
                <a:cs typeface="Arial"/>
              </a:rPr>
              <a:t>الرَّافِعَةُ</a:t>
            </a:r>
            <a:r>
              <a:rPr sz="2700" b="1" lang="ar-SA">
                <a:solidFill>
                  <a:srgbClr val="2D1F4A"/>
                </a:solidFill>
                <a:latin typeface="Arial"/>
                <a:cs typeface="Arial"/>
              </a:rPr>
              <a:t> الحِجَارَةَ الثَّقِيلَةَ. 🏗️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4000" y="4445000"/>
            <a:ext cx="4381500" cy="444500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900" b="1" lang="ar-SA">
                <a:solidFill>
                  <a:srgbClr val="D9506F"/>
                </a:solidFill>
                <a:latin typeface="Arial"/>
                <a:cs typeface="Arial"/>
              </a:rPr>
              <a:t>حاولي مرة أخرى 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4000" y="4445000"/>
            <a:ext cx="4381500" cy="444500"/>
          </a:xfrm>
          <a:prstGeom prst="roundRect">
            <a:avLst>
              <a:gd name="adj" fmla="val 50000"/>
            </a:avLst>
          </a:prstGeom>
          <a:solidFill>
            <a:srgbClr val="E2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900" b="1" lang="ar-SA">
                <a:solidFill>
                  <a:srgbClr val="23945E"/>
                </a:solidFill>
                <a:latin typeface="Arial"/>
                <a:cs typeface="Arial"/>
              </a:rPr>
              <a:t>✅ لأنّها أداةٌ يُرفَعُ بها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500" y="3556000"/>
            <a:ext cx="2095500" cy="635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🛠️ اسمُ آلةٍ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500" y="3556000"/>
            <a:ext cx="2095500" cy="635000"/>
          </a:xfrm>
          <a:prstGeom prst="roundRect">
            <a:avLst>
              <a:gd name="adj" fmla="val 24000"/>
            </a:avLst>
          </a:prstGeom>
          <a:solidFill>
            <a:srgbClr val="E2F6EA"/>
          </a:solidFill>
          <a:ln w="381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3945E"/>
                </a:solidFill>
                <a:latin typeface="Arial"/>
                <a:cs typeface="Arial"/>
              </a:rPr>
              <a:t>✅  </a:t>
            </a:r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🛠️ اسمُ آلةٍ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4000" y="3556000"/>
            <a:ext cx="2095500" cy="635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🙋‍♀️ اسمُ فاعلٍ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04000" y="3556000"/>
            <a:ext cx="2095500" cy="635000"/>
          </a:xfrm>
          <a:prstGeom prst="roundRect">
            <a:avLst>
              <a:gd name="adj" fmla="val 24000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2200" b="1" lang="ar-SA">
                <a:solidFill>
                  <a:srgbClr val="9A6A7A"/>
                </a:solidFill>
                <a:latin typeface="Arial"/>
                <a:cs typeface="Arial"/>
              </a:rPr>
              <a:t>🙋‍♀️ اسمُ فاعلٍ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5500" y="2413000"/>
            <a:ext cx="5143500" cy="2667000"/>
          </a:xfrm>
          <a:prstGeom prst="roundRect">
            <a:avLst>
              <a:gd name="adj" fmla="val 8095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0" name="TextBox 19"/>
          <p:cNvSpPr txBox="1"/>
          <p:nvPr/>
        </p:nvSpPr>
        <p:spPr>
          <a:xfrm>
            <a:off x="1016000" y="2540000"/>
            <a:ext cx="4762500" cy="825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700" b="1" lang="ar-SA">
                <a:solidFill>
                  <a:srgbClr val="2D1F4A"/>
                </a:solidFill>
                <a:latin typeface="Arial"/>
                <a:cs typeface="Arial"/>
              </a:rPr>
              <a:t>الطَّالِبَةُ </a:t>
            </a:r>
            <a:r>
              <a:rPr sz="2700" b="1" lang="ar-SA">
                <a:solidFill>
                  <a:srgbClr val="D6336C"/>
                </a:solidFill>
                <a:latin typeface="Arial"/>
                <a:cs typeface="Arial"/>
              </a:rPr>
              <a:t>رَافِعَةٌ</a:t>
            </a:r>
            <a:r>
              <a:rPr sz="2700" b="1" lang="ar-SA">
                <a:solidFill>
                  <a:srgbClr val="2D1F4A"/>
                </a:solidFill>
                <a:latin typeface="Arial"/>
                <a:cs typeface="Arial"/>
              </a:rPr>
              <a:t> يَدَهَا لِتُجِيبَ. 🙋‍♀️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6500" y="4445000"/>
            <a:ext cx="4381500" cy="444500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900" b="1" lang="ar-SA">
                <a:solidFill>
                  <a:srgbClr val="D9506F"/>
                </a:solidFill>
                <a:latin typeface="Arial"/>
                <a:cs typeface="Arial"/>
              </a:rPr>
              <a:t>حاولي مرة أخرى 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6500" y="4445000"/>
            <a:ext cx="4381500" cy="444500"/>
          </a:xfrm>
          <a:prstGeom prst="roundRect">
            <a:avLst>
              <a:gd name="adj" fmla="val 50000"/>
            </a:avLst>
          </a:prstGeom>
          <a:solidFill>
            <a:srgbClr val="E2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900" b="1" lang="ar-SA">
                <a:solidFill>
                  <a:srgbClr val="23945E"/>
                </a:solidFill>
                <a:latin typeface="Arial"/>
                <a:cs typeface="Arial"/>
              </a:rPr>
              <a:t>✅ لأنّها هي مَن قامت بالفعلِ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56000" y="3556000"/>
            <a:ext cx="2095500" cy="635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🛠️ اسمُ آلةٍ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56000" y="3556000"/>
            <a:ext cx="2095500" cy="635000"/>
          </a:xfrm>
          <a:prstGeom prst="roundRect">
            <a:avLst>
              <a:gd name="adj" fmla="val 24000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2200" b="1" lang="ar-SA">
                <a:solidFill>
                  <a:srgbClr val="9A6A7A"/>
                </a:solidFill>
                <a:latin typeface="Arial"/>
                <a:cs typeface="Arial"/>
              </a:rPr>
              <a:t>🛠️ اسمُ آلةٍ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06500" y="3556000"/>
            <a:ext cx="2095500" cy="635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🙋‍♀️ اسمُ فاعلٍ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6500" y="3556000"/>
            <a:ext cx="2095500" cy="635000"/>
          </a:xfrm>
          <a:prstGeom prst="roundRect">
            <a:avLst>
              <a:gd name="adj" fmla="val 24000"/>
            </a:avLst>
          </a:prstGeom>
          <a:solidFill>
            <a:srgbClr val="E2F6EA"/>
          </a:solidFill>
          <a:ln w="381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23945E"/>
                </a:solidFill>
                <a:latin typeface="Arial"/>
                <a:cs typeface="Arial"/>
              </a:rPr>
              <a:t>✅  </a:t>
            </a:r>
            <a:r>
              <a:rPr sz="2200" b="1" lang="ar-SA">
                <a:solidFill>
                  <a:srgbClr val="2D1F4A"/>
                </a:solidFill>
                <a:latin typeface="Arial"/>
                <a:cs typeface="Arial"/>
              </a:rPr>
              <a:t>🙋‍♀️ اسمُ فاعلٍ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26000" y="5270500"/>
            <a:ext cx="2540000" cy="4572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100" b="1" lang="ar-SA">
                <a:solidFill>
                  <a:srgbClr val="3B2263"/>
                </a:solidFill>
                <a:latin typeface="Arial"/>
                <a:cs typeface="Arial"/>
              </a:rPr>
              <a:t>💡 الخلاصة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5238750"/>
            <a:ext cx="7620000" cy="533400"/>
          </a:xfrm>
          <a:prstGeom prst="roundRect">
            <a:avLst>
              <a:gd name="adj" fmla="val 5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23945E"/>
                </a:solidFill>
                <a:latin typeface="Arial"/>
                <a:cs typeface="Arial"/>
              </a:rPr>
              <a:t>💡 السِّياقُ هو الذي يُحدِّدُ نوعَ الكلمةِ!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0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5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2"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7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4"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3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8"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5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2"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16" grpId="0" animBg="1"/>
      <p:bldP spid="14" grpId="0" animBg="1"/>
      <p:bldP spid="18" grpId="0" animBg="1"/>
      <p:bldP spid="13" grpId="0" animBg="1"/>
      <p:bldP spid="24" grpId="0" animBg="1"/>
      <p:bldP spid="21" grpId="0" animBg="1"/>
      <p:bldP spid="26" grpId="0" animBg="1"/>
      <p:bldP spid="22" grpId="0" animBg="1"/>
      <p:bldP spid="28" grpId="0" animBg="1"/>
    </p:bldLst>
  </p:timing>
  <p:transition spd="med">
    <p:zoom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أصوغُ بنفسي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❓ استراتيجية الأسئلة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١٨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500" y="1333500"/>
            <a:ext cx="10541000" cy="762000"/>
          </a:xfrm>
          <a:prstGeom prst="roundRect">
            <a:avLst>
              <a:gd name="adj" fmla="val 28333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000" b="1" lang="ar-SA">
                <a:solidFill>
                  <a:srgbClr val="2D1F4A"/>
                </a:solidFill>
                <a:latin typeface="Arial"/>
                <a:cs typeface="Arial"/>
              </a:rPr>
              <a:t>اسمُ الآلةِ منَ الفعلِ (ثَقَبَ) هو: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3000" y="4667250"/>
            <a:ext cx="4826000" cy="533400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 w="2540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D9506F"/>
                </a:solidFill>
                <a:latin typeface="Arial"/>
                <a:cs typeface="Arial"/>
              </a:rPr>
              <a:t>حاولي مرة أخرى 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83000" y="4667250"/>
            <a:ext cx="4826000" cy="533400"/>
          </a:xfrm>
          <a:prstGeom prst="roundRect">
            <a:avLst>
              <a:gd name="adj" fmla="val 5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23945E"/>
                </a:solidFill>
                <a:latin typeface="Arial"/>
                <a:cs typeface="Arial"/>
              </a:rPr>
              <a:t>أحسنتِ! 👏 إجابة صحيحة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0500" y="5334000"/>
            <a:ext cx="9271000" cy="635000"/>
          </a:xfrm>
          <a:prstGeom prst="roundRect">
            <a:avLst>
              <a:gd name="adj" fmla="val 28000"/>
            </a:avLst>
          </a:prstGeom>
          <a:solidFill>
            <a:srgbClr val="FFF9E3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4F2F86"/>
                </a:solidFill>
                <a:latin typeface="Arial"/>
                <a:cs typeface="Arial"/>
              </a:rPr>
              <a:t>مِثْقَب: أداةٌ نثقُبُ بها، على وزنِ 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مِفْعَل</a:t>
            </a:r>
            <a:r>
              <a:rPr sz="2200" b="1" lang="ar-SA">
                <a:solidFill>
                  <a:srgbClr val="4F2F86"/>
                </a:solidFill>
                <a:latin typeface="Arial"/>
                <a:cs typeface="Arial"/>
              </a:rPr>
              <a:t> 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0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🧍‍♀️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ثَاقِب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🧍‍♀️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ثَاقِب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5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🕳️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مَثْقُوب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5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🕳️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مَثْقُوب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🔩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مِثْقَب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00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E2F6EA"/>
          </a:solidFill>
          <a:ln w="381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23945E"/>
                </a:solidFill>
                <a:latin typeface="Arial"/>
                <a:cs typeface="Arial"/>
              </a:rPr>
              <a:t>✅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🔩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مِثْقَب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5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📝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ثَقْب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5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📝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ثَقْب</a:t>
            </a:r>
          </a:p>
        </p:txBody>
      </p:sp>
      <p:pic>
        <p:nvPicPr>
          <p:cNvPr id="13" name="Picture 12" descr="confet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1206500"/>
            <a:ext cx="10795000" cy="444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0"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4"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9"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5" grpId="0" animBg="1"/>
      <p:bldP spid="10" grpId="0" animBg="1"/>
      <p:bldP spid="17" grpId="0" animBg="1"/>
      <p:bldP spid="19" grpId="0" animBg="1"/>
      <p:bldP spid="11" grpId="0" animBg="1"/>
      <p:bldP spid="12" grpId="0" animBg="1"/>
      <p:bldP spid="21" grpId="0" animBg="1"/>
    </p:bldLst>
  </p:timing>
  <p:transition spd="med">
    <p:zoom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تحدّي الدقيقةِ الواحدةِ!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⏱️ تحدّي الدقيقة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١٩ / ٢٤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270000"/>
            <a:ext cx="10160000" cy="381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000" b="1" lang="ar-SA">
                <a:solidFill>
                  <a:srgbClr val="4F2F86"/>
                </a:solidFill>
                <a:latin typeface="Arial"/>
                <a:cs typeface="Arial"/>
              </a:rPr>
              <a:t>صنّفي الكلماتِ بسرعةٍ: اسمُ آلةٍ؟ اسمُ فاعلٍ؟ أم اسمُ مفعولٍ؟ — ثمّ اضغطي الكلمةَ للتحقُّق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1500" y="1746250"/>
            <a:ext cx="1905000" cy="4064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▶ ابدئي التحدّي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5500" y="1860550"/>
            <a:ext cx="8509000" cy="177800"/>
          </a:xfrm>
          <a:prstGeom prst="roundRect">
            <a:avLst>
              <a:gd name="adj" fmla="val 50000"/>
            </a:avLst>
          </a:prstGeom>
          <a:solidFill>
            <a:srgbClr val="E4D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2" name="Rounded Rectangle 11"/>
          <p:cNvSpPr/>
          <p:nvPr/>
        </p:nvSpPr>
        <p:spPr>
          <a:xfrm>
            <a:off x="825500" y="1860550"/>
            <a:ext cx="8509000" cy="1778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3" name="Rounded Rectangle 12"/>
          <p:cNvSpPr/>
          <p:nvPr/>
        </p:nvSpPr>
        <p:spPr>
          <a:xfrm>
            <a:off x="825500" y="1746250"/>
            <a:ext cx="10541000" cy="406400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 w="2540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D9506F"/>
                </a:solidFill>
                <a:latin typeface="Arial"/>
                <a:cs typeface="Arial"/>
              </a:rPr>
              <a:t>⏰ انتهى الوقت!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8250" y="2349500"/>
            <a:ext cx="250825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>
            <a:noAutofit/>
          </a:bodyPr>
          <a:lstStyle/>
          <a:p>
            <a:pPr algn="ctr" rtl="1"/>
            <a:r>
              <a:rPr sz="3600" b="1" lang="ar-SA">
                <a:solidFill>
                  <a:srgbClr val="2D1F4A"/>
                </a:solidFill>
                <a:latin typeface="Arial"/>
                <a:cs typeface="Arial"/>
              </a:rPr>
              <a:t>مِفْتَاح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75750" y="2933700"/>
            <a:ext cx="1873250" cy="3048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FFFFFF"/>
                </a:solidFill>
                <a:latin typeface="Arial"/>
                <a:cs typeface="Arial"/>
              </a:rPr>
              <a:t>🛠️ اسمُ آلةٍ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4900" y="2349500"/>
            <a:ext cx="250825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>
            <a:noAutofit/>
          </a:bodyPr>
          <a:lstStyle/>
          <a:p>
            <a:pPr algn="ctr" rtl="1"/>
            <a:r>
              <a:rPr sz="3600" b="1" lang="ar-SA">
                <a:solidFill>
                  <a:srgbClr val="2D1F4A"/>
                </a:solidFill>
                <a:latin typeface="Arial"/>
                <a:cs typeface="Arial"/>
              </a:rPr>
              <a:t>كَاتِب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2400" y="2933700"/>
            <a:ext cx="1873250" cy="3048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3B2263"/>
                </a:solidFill>
                <a:latin typeface="Arial"/>
                <a:cs typeface="Arial"/>
              </a:rPr>
              <a:t>🙋‍♀️ اسمُ فاعلٍ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11550" y="2349500"/>
            <a:ext cx="250825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>
            <a:noAutofit/>
          </a:bodyPr>
          <a:lstStyle/>
          <a:p>
            <a:pPr algn="ctr" rtl="1"/>
            <a:r>
              <a:rPr sz="3600" b="1" lang="ar-SA">
                <a:solidFill>
                  <a:srgbClr val="2D1F4A"/>
                </a:solidFill>
                <a:latin typeface="Arial"/>
                <a:cs typeface="Arial"/>
              </a:rPr>
              <a:t>مَكْسُور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29050" y="2933700"/>
            <a:ext cx="18732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4F2F86"/>
                </a:solidFill>
                <a:latin typeface="Arial"/>
                <a:cs typeface="Arial"/>
              </a:rPr>
              <a:t>📦 اسمُ مفعولٍ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2349500"/>
            <a:ext cx="250825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>
            <a:noAutofit/>
          </a:bodyPr>
          <a:lstStyle/>
          <a:p>
            <a:pPr algn="ctr" rtl="1"/>
            <a:r>
              <a:rPr sz="3600" b="1" lang="ar-SA">
                <a:solidFill>
                  <a:srgbClr val="2D1F4A"/>
                </a:solidFill>
                <a:latin typeface="Arial"/>
                <a:cs typeface="Arial"/>
              </a:rPr>
              <a:t>مِكْنَسَة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5700" y="2933700"/>
            <a:ext cx="1873250" cy="3048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FFFFFF"/>
                </a:solidFill>
                <a:latin typeface="Arial"/>
                <a:cs typeface="Arial"/>
              </a:rPr>
              <a:t>🛠️ اسمُ آلةٍ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58250" y="3441700"/>
            <a:ext cx="250825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>
            <a:noAutofit/>
          </a:bodyPr>
          <a:lstStyle/>
          <a:p>
            <a:pPr algn="ctr" rtl="1"/>
            <a:r>
              <a:rPr sz="3600" b="1" lang="ar-SA">
                <a:solidFill>
                  <a:srgbClr val="2D1F4A"/>
                </a:solidFill>
                <a:latin typeface="Arial"/>
                <a:cs typeface="Arial"/>
              </a:rPr>
              <a:t>لَاعِب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75750" y="4025900"/>
            <a:ext cx="1873250" cy="3048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3B2263"/>
                </a:solidFill>
                <a:latin typeface="Arial"/>
                <a:cs typeface="Arial"/>
              </a:rPr>
              <a:t>🙋‍♀️ اسمُ فاعلٍ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4900" y="3441700"/>
            <a:ext cx="250825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>
            <a:noAutofit/>
          </a:bodyPr>
          <a:lstStyle/>
          <a:p>
            <a:pPr algn="ctr" rtl="1"/>
            <a:r>
              <a:rPr sz="3600" b="1" lang="ar-SA">
                <a:solidFill>
                  <a:srgbClr val="2D1F4A"/>
                </a:solidFill>
                <a:latin typeface="Arial"/>
                <a:cs typeface="Arial"/>
              </a:rPr>
              <a:t>مَشْرُوب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2400" y="4025900"/>
            <a:ext cx="18732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4F2F86"/>
                </a:solidFill>
                <a:latin typeface="Arial"/>
                <a:cs typeface="Arial"/>
              </a:rPr>
              <a:t>📦 اسمُ مفعولٍ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11550" y="3441700"/>
            <a:ext cx="250825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>
            <a:noAutofit/>
          </a:bodyPr>
          <a:lstStyle/>
          <a:p>
            <a:pPr algn="ctr" rtl="1"/>
            <a:r>
              <a:rPr sz="3600" b="1" lang="ar-SA">
                <a:solidFill>
                  <a:srgbClr val="2D1F4A"/>
                </a:solidFill>
                <a:latin typeface="Arial"/>
                <a:cs typeface="Arial"/>
              </a:rPr>
              <a:t>مِنْظَار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29050" y="4025900"/>
            <a:ext cx="1873250" cy="3048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FFFFFF"/>
                </a:solidFill>
                <a:latin typeface="Arial"/>
                <a:cs typeface="Arial"/>
              </a:rPr>
              <a:t>🛠️ اسمُ آلةٍ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200" y="3441700"/>
            <a:ext cx="250825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>
            <a:noAutofit/>
          </a:bodyPr>
          <a:lstStyle/>
          <a:p>
            <a:pPr algn="ctr" rtl="1"/>
            <a:r>
              <a:rPr sz="3600" b="1" lang="ar-SA">
                <a:solidFill>
                  <a:srgbClr val="2D1F4A"/>
                </a:solidFill>
                <a:latin typeface="Arial"/>
                <a:cs typeface="Arial"/>
              </a:rPr>
              <a:t>حَاسُوب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55700" y="4025900"/>
            <a:ext cx="1873250" cy="3048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FFFFFF"/>
                </a:solidFill>
                <a:latin typeface="Arial"/>
                <a:cs typeface="Arial"/>
              </a:rPr>
              <a:t>🛠️ اسمُ آلةٍ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58250" y="4533900"/>
            <a:ext cx="250825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>
            <a:noAutofit/>
          </a:bodyPr>
          <a:lstStyle/>
          <a:p>
            <a:pPr algn="ctr" rtl="1"/>
            <a:r>
              <a:rPr sz="3600" b="1" lang="ar-SA">
                <a:solidFill>
                  <a:srgbClr val="2D1F4A"/>
                </a:solidFill>
                <a:latin typeface="Arial"/>
                <a:cs typeface="Arial"/>
              </a:rPr>
              <a:t>نَاجِح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75750" y="5118100"/>
            <a:ext cx="1873250" cy="3048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3B2263"/>
                </a:solidFill>
                <a:latin typeface="Arial"/>
                <a:cs typeface="Arial"/>
              </a:rPr>
              <a:t>🙋‍♀️ اسمُ فاعلٍ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4900" y="4533900"/>
            <a:ext cx="250825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>
            <a:noAutofit/>
          </a:bodyPr>
          <a:lstStyle/>
          <a:p>
            <a:pPr algn="ctr" rtl="1"/>
            <a:r>
              <a:rPr sz="3600" b="1" lang="ar-SA">
                <a:solidFill>
                  <a:srgbClr val="2D1F4A"/>
                </a:solidFill>
                <a:latin typeface="Arial"/>
                <a:cs typeface="Arial"/>
              </a:rPr>
              <a:t>مَفْتُوح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02400" y="5118100"/>
            <a:ext cx="18732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4F2F86"/>
                </a:solidFill>
                <a:latin typeface="Arial"/>
                <a:cs typeface="Arial"/>
              </a:rPr>
              <a:t>📦 اسمُ مفعولٍ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11550" y="4533900"/>
            <a:ext cx="250825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>
            <a:noAutofit/>
          </a:bodyPr>
          <a:lstStyle/>
          <a:p>
            <a:pPr algn="ctr" rtl="1"/>
            <a:r>
              <a:rPr sz="3600" b="1" lang="ar-SA">
                <a:solidFill>
                  <a:srgbClr val="2D1F4A"/>
                </a:solidFill>
                <a:latin typeface="Arial"/>
                <a:cs typeface="Arial"/>
              </a:rPr>
              <a:t>مِصْعَد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29050" y="5118100"/>
            <a:ext cx="1873250" cy="3048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FFFFFF"/>
                </a:solidFill>
                <a:latin typeface="Arial"/>
                <a:cs typeface="Arial"/>
              </a:rPr>
              <a:t>🛠️ اسمُ آلةٍ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8200" y="4533900"/>
            <a:ext cx="2508250" cy="952500"/>
          </a:xfrm>
          <a:prstGeom prst="roundRect">
            <a:avLst>
              <a:gd name="adj" fmla="val 18666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38100" bIns="38100">
            <a:noAutofit/>
          </a:bodyPr>
          <a:lstStyle/>
          <a:p>
            <a:pPr algn="ctr" rtl="1"/>
            <a:r>
              <a:rPr sz="3600" b="1" lang="ar-SA">
                <a:solidFill>
                  <a:srgbClr val="2D1F4A"/>
                </a:solidFill>
                <a:latin typeface="Arial"/>
                <a:cs typeface="Arial"/>
              </a:rPr>
              <a:t>سَامِع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55700" y="5118100"/>
            <a:ext cx="1873250" cy="3048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700" b="1" lang="ar-SA">
                <a:solidFill>
                  <a:srgbClr val="3B2263"/>
                </a:solidFill>
                <a:latin typeface="Arial"/>
                <a:cs typeface="Arial"/>
              </a:rPr>
              <a:t>🙋‍♀️ اسمُ فاعلٍ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91500" y="5715000"/>
            <a:ext cx="2413000" cy="3810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🛠️ اسمُ آلةٍ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24500" y="5715000"/>
            <a:ext cx="2413000" cy="3810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3B2263"/>
                </a:solidFill>
                <a:latin typeface="Arial"/>
                <a:cs typeface="Arial"/>
              </a:rPr>
              <a:t>🙋‍♀️ اسمُ فاعلٍ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57500" y="5715000"/>
            <a:ext cx="2413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4F2F86"/>
                </a:solidFill>
                <a:latin typeface="Arial"/>
                <a:cs typeface="Arial"/>
              </a:rPr>
              <a:t>📦 اسمُ مفعولٍ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6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9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60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"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be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2"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4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1"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0"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8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9"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8"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7"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4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76"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6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5"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94"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0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03"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2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12"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4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21"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3" grpId="0" animBg="1"/>
      <p:bldP spid="35" grpId="0" animBg="1"/>
      <p:bldP spid="37" grpId="0" animBg="1"/>
    </p:bldLst>
  </p:timing>
  <p:transition spd="med">
    <p:zoom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أتعلّمُ وأتسلّى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🤝 التعلّم التعاوني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٢٠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6500" y="1333500"/>
            <a:ext cx="5080000" cy="4762500"/>
          </a:xfrm>
          <a:prstGeom prst="roundRect">
            <a:avLst>
              <a:gd name="adj" fmla="val 4533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0" name="TextBox 9"/>
          <p:cNvSpPr txBox="1"/>
          <p:nvPr/>
        </p:nvSpPr>
        <p:spPr>
          <a:xfrm>
            <a:off x="6413500" y="1460500"/>
            <a:ext cx="48260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800" b="1" lang="ar-SA">
                <a:solidFill>
                  <a:srgbClr val="4F2F86"/>
                </a:solidFill>
                <a:latin typeface="Arial"/>
                <a:cs typeface="Arial"/>
              </a:rPr>
              <a:t>📚 قاموسٌ مُصوَّرٌ لأسماءِ الآلةِ</a:t>
            </a:r>
          </a:p>
        </p:txBody>
      </p:sp>
      <p:sp>
        <p:nvSpPr>
          <p:cNvPr id="11" name="Oval 10"/>
          <p:cNvSpPr/>
          <p:nvPr/>
        </p:nvSpPr>
        <p:spPr>
          <a:xfrm>
            <a:off x="10795000" y="2235200"/>
            <a:ext cx="381000" cy="381000"/>
          </a:xfrm>
          <a:prstGeom prst="ellipse">
            <a:avLst/>
          </a:prstGeom>
          <a:solidFill>
            <a:srgbClr val="FBE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4F2F86"/>
                </a:solidFill>
                <a:latin typeface="Arial"/>
                <a:cs typeface="Arial"/>
              </a:rPr>
              <a:t>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2159000"/>
            <a:ext cx="4254500" cy="5461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ارسمي (أو الصقي) صورةَ آلةٍ نستخدمُها.</a:t>
            </a:r>
          </a:p>
        </p:txBody>
      </p:sp>
      <p:sp>
        <p:nvSpPr>
          <p:cNvPr id="13" name="Oval 12"/>
          <p:cNvSpPr/>
          <p:nvPr/>
        </p:nvSpPr>
        <p:spPr>
          <a:xfrm>
            <a:off x="10795000" y="2933700"/>
            <a:ext cx="381000" cy="381000"/>
          </a:xfrm>
          <a:prstGeom prst="ellipse">
            <a:avLst/>
          </a:prstGeom>
          <a:solidFill>
            <a:srgbClr val="FBE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4F2F86"/>
                </a:solidFill>
                <a:latin typeface="Arial"/>
                <a:cs typeface="Arial"/>
              </a:rPr>
              <a:t>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2857500"/>
            <a:ext cx="4254500" cy="5461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اكتبي اسمَ الآلةِ تحتَ الصورةِ.</a:t>
            </a:r>
          </a:p>
        </p:txBody>
      </p:sp>
      <p:sp>
        <p:nvSpPr>
          <p:cNvPr id="15" name="Oval 14"/>
          <p:cNvSpPr/>
          <p:nvPr/>
        </p:nvSpPr>
        <p:spPr>
          <a:xfrm>
            <a:off x="10795000" y="3632200"/>
            <a:ext cx="381000" cy="381000"/>
          </a:xfrm>
          <a:prstGeom prst="ellipse">
            <a:avLst/>
          </a:prstGeom>
          <a:solidFill>
            <a:srgbClr val="FBE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4F2F86"/>
                </a:solidFill>
                <a:latin typeface="Arial"/>
                <a:cs typeface="Arial"/>
              </a:rPr>
              <a:t>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556000"/>
            <a:ext cx="4254500" cy="5461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زِنيه بالميزانِ الصرفيِّ، وحدّدي نوعَه.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90000" y="4445000"/>
            <a:ext cx="2286000" cy="4445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900" b="1" lang="ar-SA">
                <a:solidFill>
                  <a:srgbClr val="4F2F86"/>
                </a:solidFill>
                <a:latin typeface="Arial"/>
                <a:cs typeface="Arial"/>
              </a:rPr>
              <a:t>🎨 الرسّامة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7000" y="4445000"/>
            <a:ext cx="2286000" cy="4445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900" b="1" lang="ar-SA">
                <a:solidFill>
                  <a:srgbClr val="4F2F86"/>
                </a:solidFill>
                <a:latin typeface="Arial"/>
                <a:cs typeface="Arial"/>
              </a:rPr>
              <a:t>✍️ الكاتبة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0000" y="5016500"/>
            <a:ext cx="2286000" cy="4445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900" b="1" lang="ar-SA">
                <a:solidFill>
                  <a:srgbClr val="4F2F86"/>
                </a:solidFill>
                <a:latin typeface="Arial"/>
                <a:cs typeface="Arial"/>
              </a:rPr>
              <a:t>⚖️ الوزّانة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7000" y="5016500"/>
            <a:ext cx="2286000" cy="4445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900" b="1" lang="ar-SA">
                <a:solidFill>
                  <a:srgbClr val="4F2F86"/>
                </a:solidFill>
                <a:latin typeface="Arial"/>
                <a:cs typeface="Arial"/>
              </a:rPr>
              <a:t>📢 المتحدّثة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91000" y="1365250"/>
            <a:ext cx="1905000" cy="406400"/>
          </a:xfrm>
          <a:prstGeom prst="roundRect">
            <a:avLst>
              <a:gd name="adj" fmla="val 5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▶ ٥ دقائق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500" y="1479550"/>
            <a:ext cx="3238500" cy="177800"/>
          </a:xfrm>
          <a:prstGeom prst="roundRect">
            <a:avLst>
              <a:gd name="adj" fmla="val 50000"/>
            </a:avLst>
          </a:prstGeom>
          <a:solidFill>
            <a:srgbClr val="E4D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3" name="Rounded Rectangle 22"/>
          <p:cNvSpPr/>
          <p:nvPr/>
        </p:nvSpPr>
        <p:spPr>
          <a:xfrm>
            <a:off x="825500" y="1479550"/>
            <a:ext cx="3238500" cy="1778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4" name="Rounded Rectangle 23"/>
          <p:cNvSpPr/>
          <p:nvPr/>
        </p:nvSpPr>
        <p:spPr>
          <a:xfrm>
            <a:off x="825500" y="1365250"/>
            <a:ext cx="5270500" cy="406400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 w="2540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D9506F"/>
                </a:solidFill>
                <a:latin typeface="Arial"/>
                <a:cs typeface="Arial"/>
              </a:rPr>
              <a:t>⏰ انتهى الوقت!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500" y="2032000"/>
            <a:ext cx="52705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26" name="TextBox 25"/>
          <p:cNvSpPr txBox="1"/>
          <p:nvPr/>
        </p:nvSpPr>
        <p:spPr>
          <a:xfrm>
            <a:off x="3810000" y="2159000"/>
            <a:ext cx="2159000" cy="6223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🌸 مجموعةُ الإبداعِ</a:t>
            </a:r>
          </a:p>
        </p:txBody>
      </p:sp>
      <p:sp>
        <p:nvSpPr>
          <p:cNvPr id="27" name="Oval 26"/>
          <p:cNvSpPr/>
          <p:nvPr/>
        </p:nvSpPr>
        <p:spPr>
          <a:xfrm>
            <a:off x="1016000" y="22415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28" name="Oval 27"/>
          <p:cNvSpPr/>
          <p:nvPr/>
        </p:nvSpPr>
        <p:spPr>
          <a:xfrm>
            <a:off x="1016000" y="22415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29" name="Oval 28"/>
          <p:cNvSpPr/>
          <p:nvPr/>
        </p:nvSpPr>
        <p:spPr>
          <a:xfrm>
            <a:off x="1562100" y="22415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30" name="Oval 29"/>
          <p:cNvSpPr/>
          <p:nvPr/>
        </p:nvSpPr>
        <p:spPr>
          <a:xfrm>
            <a:off x="1562100" y="22415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31" name="Oval 30"/>
          <p:cNvSpPr/>
          <p:nvPr/>
        </p:nvSpPr>
        <p:spPr>
          <a:xfrm>
            <a:off x="2108200" y="22415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32" name="Oval 31"/>
          <p:cNvSpPr/>
          <p:nvPr/>
        </p:nvSpPr>
        <p:spPr>
          <a:xfrm>
            <a:off x="2108200" y="22415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33" name="Oval 32"/>
          <p:cNvSpPr/>
          <p:nvPr/>
        </p:nvSpPr>
        <p:spPr>
          <a:xfrm>
            <a:off x="2654300" y="22415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34" name="Oval 33"/>
          <p:cNvSpPr/>
          <p:nvPr/>
        </p:nvSpPr>
        <p:spPr>
          <a:xfrm>
            <a:off x="2654300" y="22415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35" name="Oval 34"/>
          <p:cNvSpPr/>
          <p:nvPr/>
        </p:nvSpPr>
        <p:spPr>
          <a:xfrm>
            <a:off x="3200400" y="22415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36" name="Oval 35"/>
          <p:cNvSpPr/>
          <p:nvPr/>
        </p:nvSpPr>
        <p:spPr>
          <a:xfrm>
            <a:off x="3200400" y="22415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5500" y="3035300"/>
            <a:ext cx="52705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38" name="TextBox 37"/>
          <p:cNvSpPr txBox="1"/>
          <p:nvPr/>
        </p:nvSpPr>
        <p:spPr>
          <a:xfrm>
            <a:off x="3810000" y="3162300"/>
            <a:ext cx="2159000" cy="6223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⭐ مجموعةُ التميّزِ</a:t>
            </a:r>
          </a:p>
        </p:txBody>
      </p:sp>
      <p:sp>
        <p:nvSpPr>
          <p:cNvPr id="39" name="Oval 38"/>
          <p:cNvSpPr/>
          <p:nvPr/>
        </p:nvSpPr>
        <p:spPr>
          <a:xfrm>
            <a:off x="1016000" y="32448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40" name="Oval 39"/>
          <p:cNvSpPr/>
          <p:nvPr/>
        </p:nvSpPr>
        <p:spPr>
          <a:xfrm>
            <a:off x="1016000" y="32448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41" name="Oval 40"/>
          <p:cNvSpPr/>
          <p:nvPr/>
        </p:nvSpPr>
        <p:spPr>
          <a:xfrm>
            <a:off x="1562100" y="32448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42" name="Oval 41"/>
          <p:cNvSpPr/>
          <p:nvPr/>
        </p:nvSpPr>
        <p:spPr>
          <a:xfrm>
            <a:off x="1562100" y="32448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43" name="Oval 42"/>
          <p:cNvSpPr/>
          <p:nvPr/>
        </p:nvSpPr>
        <p:spPr>
          <a:xfrm>
            <a:off x="2108200" y="32448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44" name="Oval 43"/>
          <p:cNvSpPr/>
          <p:nvPr/>
        </p:nvSpPr>
        <p:spPr>
          <a:xfrm>
            <a:off x="2108200" y="32448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45" name="Oval 44"/>
          <p:cNvSpPr/>
          <p:nvPr/>
        </p:nvSpPr>
        <p:spPr>
          <a:xfrm>
            <a:off x="2654300" y="32448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46" name="Oval 45"/>
          <p:cNvSpPr/>
          <p:nvPr/>
        </p:nvSpPr>
        <p:spPr>
          <a:xfrm>
            <a:off x="2654300" y="32448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47" name="Oval 46"/>
          <p:cNvSpPr/>
          <p:nvPr/>
        </p:nvSpPr>
        <p:spPr>
          <a:xfrm>
            <a:off x="3200400" y="32448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48" name="Oval 47"/>
          <p:cNvSpPr/>
          <p:nvPr/>
        </p:nvSpPr>
        <p:spPr>
          <a:xfrm>
            <a:off x="3200400" y="32448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5500" y="4038600"/>
            <a:ext cx="52705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50" name="TextBox 49"/>
          <p:cNvSpPr txBox="1"/>
          <p:nvPr/>
        </p:nvSpPr>
        <p:spPr>
          <a:xfrm>
            <a:off x="3810000" y="4165600"/>
            <a:ext cx="2159000" cy="6223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🌈 مجموعةُ الأملِ</a:t>
            </a:r>
          </a:p>
        </p:txBody>
      </p:sp>
      <p:sp>
        <p:nvSpPr>
          <p:cNvPr id="51" name="Oval 50"/>
          <p:cNvSpPr/>
          <p:nvPr/>
        </p:nvSpPr>
        <p:spPr>
          <a:xfrm>
            <a:off x="1016000" y="42481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52" name="Oval 51"/>
          <p:cNvSpPr/>
          <p:nvPr/>
        </p:nvSpPr>
        <p:spPr>
          <a:xfrm>
            <a:off x="1016000" y="42481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53" name="Oval 52"/>
          <p:cNvSpPr/>
          <p:nvPr/>
        </p:nvSpPr>
        <p:spPr>
          <a:xfrm>
            <a:off x="1562100" y="42481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54" name="Oval 53"/>
          <p:cNvSpPr/>
          <p:nvPr/>
        </p:nvSpPr>
        <p:spPr>
          <a:xfrm>
            <a:off x="1562100" y="42481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55" name="Oval 54"/>
          <p:cNvSpPr/>
          <p:nvPr/>
        </p:nvSpPr>
        <p:spPr>
          <a:xfrm>
            <a:off x="2108200" y="42481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56" name="Oval 55"/>
          <p:cNvSpPr/>
          <p:nvPr/>
        </p:nvSpPr>
        <p:spPr>
          <a:xfrm>
            <a:off x="2108200" y="42481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57" name="Oval 56"/>
          <p:cNvSpPr/>
          <p:nvPr/>
        </p:nvSpPr>
        <p:spPr>
          <a:xfrm>
            <a:off x="2654300" y="42481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58" name="Oval 57"/>
          <p:cNvSpPr/>
          <p:nvPr/>
        </p:nvSpPr>
        <p:spPr>
          <a:xfrm>
            <a:off x="2654300" y="42481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59" name="Oval 58"/>
          <p:cNvSpPr/>
          <p:nvPr/>
        </p:nvSpPr>
        <p:spPr>
          <a:xfrm>
            <a:off x="3200400" y="42481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60" name="Oval 59"/>
          <p:cNvSpPr/>
          <p:nvPr/>
        </p:nvSpPr>
        <p:spPr>
          <a:xfrm>
            <a:off x="3200400" y="42481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5500" y="5041900"/>
            <a:ext cx="52705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62" name="TextBox 61"/>
          <p:cNvSpPr txBox="1"/>
          <p:nvPr/>
        </p:nvSpPr>
        <p:spPr>
          <a:xfrm>
            <a:off x="3810000" y="5168900"/>
            <a:ext cx="2159000" cy="6223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💡 مجموعةُ النّورِ</a:t>
            </a:r>
          </a:p>
        </p:txBody>
      </p:sp>
      <p:sp>
        <p:nvSpPr>
          <p:cNvPr id="63" name="Oval 62"/>
          <p:cNvSpPr/>
          <p:nvPr/>
        </p:nvSpPr>
        <p:spPr>
          <a:xfrm>
            <a:off x="1016000" y="52514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64" name="Oval 63"/>
          <p:cNvSpPr/>
          <p:nvPr/>
        </p:nvSpPr>
        <p:spPr>
          <a:xfrm>
            <a:off x="1016000" y="52514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65" name="Oval 64"/>
          <p:cNvSpPr/>
          <p:nvPr/>
        </p:nvSpPr>
        <p:spPr>
          <a:xfrm>
            <a:off x="1562100" y="52514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66" name="Oval 65"/>
          <p:cNvSpPr/>
          <p:nvPr/>
        </p:nvSpPr>
        <p:spPr>
          <a:xfrm>
            <a:off x="1562100" y="52514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67" name="Oval 66"/>
          <p:cNvSpPr/>
          <p:nvPr/>
        </p:nvSpPr>
        <p:spPr>
          <a:xfrm>
            <a:off x="2108200" y="52514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68" name="Oval 67"/>
          <p:cNvSpPr/>
          <p:nvPr/>
        </p:nvSpPr>
        <p:spPr>
          <a:xfrm>
            <a:off x="2108200" y="52514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69" name="Oval 68"/>
          <p:cNvSpPr/>
          <p:nvPr/>
        </p:nvSpPr>
        <p:spPr>
          <a:xfrm>
            <a:off x="2654300" y="52514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70" name="Oval 69"/>
          <p:cNvSpPr/>
          <p:nvPr/>
        </p:nvSpPr>
        <p:spPr>
          <a:xfrm>
            <a:off x="2654300" y="52514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71" name="Oval 70"/>
          <p:cNvSpPr/>
          <p:nvPr/>
        </p:nvSpPr>
        <p:spPr>
          <a:xfrm>
            <a:off x="3200400" y="5251450"/>
            <a:ext cx="4699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CDB8EE"/>
                </a:solidFill>
                <a:latin typeface="Arial"/>
                <a:cs typeface="Arial"/>
              </a:rPr>
              <a:t>☆</a:t>
            </a:r>
          </a:p>
        </p:txBody>
      </p:sp>
      <p:sp>
        <p:nvSpPr>
          <p:cNvPr id="72" name="Oval 71"/>
          <p:cNvSpPr/>
          <p:nvPr/>
        </p:nvSpPr>
        <p:spPr>
          <a:xfrm>
            <a:off x="3200400" y="5251450"/>
            <a:ext cx="469900" cy="457200"/>
          </a:xfrm>
          <a:prstGeom prst="ellipse">
            <a:avLst/>
          </a:prstGeom>
          <a:solidFill>
            <a:srgbClr val="FDF0C2"/>
          </a:solidFill>
          <a:ln w="25400">
            <a:solidFill>
              <a:srgbClr val="F2C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5500" y="6064250"/>
            <a:ext cx="5270500" cy="254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1400" b="1" lang="ar-SA">
                <a:solidFill>
                  <a:srgbClr val="9A7FD6"/>
                </a:solidFill>
                <a:latin typeface="Arial"/>
                <a:cs typeface="Arial"/>
              </a:rPr>
              <a:t>اضغطي ☆ لمنح المجموعة نجمة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3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"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be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2"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7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1"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9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0"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1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9"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8"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5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7"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3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76"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41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85"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43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4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94"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45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4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03"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47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4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12"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51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4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21"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5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4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4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0"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55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4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9"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57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4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48" display="0" masterRel="sameClick">
                                          <p:stCondLst>
                                            <p:cond evt="begin" delay="0">
                                              <p:tn val="143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59"/>
                  </p:tgtEl>
                </p:cond>
              </p:nextCondLst>
            </p:seq>
            <p:seq concurrent="1" nextAc="seek">
              <p:cTn id="149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4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4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57"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63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4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66"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65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4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75" display="0" masterRel="sameClick">
                                          <p:stCondLst>
                                            <p:cond evt="begin" delay="0">
                                              <p:tn val="170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67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4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4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84" display="0" masterRel="sameClick">
                                          <p:stCondLst>
                                            <p:cond evt="begin" delay="0">
                                              <p:tn val="179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69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4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4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4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93" display="0" masterRel="sameClick">
                                          <p:stCondLst>
                                            <p:cond evt="begin" delay="0">
                                              <p:tn val="188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71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8" grpId="0" animBg="1"/>
      <p:bldP spid="30" grpId="0" animBg="1"/>
      <p:bldP spid="32" grpId="0" animBg="1"/>
      <p:bldP spid="34" grpId="0" animBg="1"/>
      <p:bldP spid="36" grpId="0" animBg="1"/>
      <p:bldP spid="40" grpId="0" animBg="1"/>
      <p:bldP spid="42" grpId="0" animBg="1"/>
      <p:bldP spid="44" grpId="0" animBg="1"/>
      <p:bldP spid="46" grpId="0" animBg="1"/>
      <p:bldP spid="48" grpId="0" animBg="1"/>
      <p:bldP spid="52" grpId="0" animBg="1"/>
      <p:bldP spid="54" grpId="0" animBg="1"/>
      <p:bldP spid="56" grpId="0" animBg="1"/>
      <p:bldP spid="58" grpId="0" animBg="1"/>
      <p:bldP spid="60" grpId="0" animBg="1"/>
      <p:bldP spid="64" grpId="0" animBg="1"/>
      <p:bldP spid="66" grpId="0" animBg="1"/>
      <p:bldP spid="68" grpId="0" animBg="1"/>
      <p:bldP spid="70" grpId="0" animBg="1"/>
      <p:bldP spid="72" grpId="0" animBg="1"/>
    </p:bldLst>
  </p:timing>
  <p:transition spd="med">
    <p:push dir="r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خُلاصةُ الدَّرسِ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🔁 مراجعة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٢١ / ٢٤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1270000"/>
            <a:ext cx="8890000" cy="406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200" b="1" lang="ar-SA">
                <a:solidFill>
                  <a:srgbClr val="6A45A8"/>
                </a:solidFill>
                <a:latin typeface="Arial"/>
                <a:cs typeface="Arial"/>
              </a:rPr>
              <a:t>حاولي الإجابةَ قبلَ أن تقلبي البطاقةَ 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9833" y="1841500"/>
            <a:ext cx="3386667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400" b="1" lang="ar-SA">
                <a:solidFill>
                  <a:srgbClr val="2D1F4A"/>
                </a:solidFill>
                <a:latin typeface="Arial"/>
                <a:cs typeface="Arial"/>
              </a:rPr>
              <a:t>📖</a:t>
            </a:r>
          </a:p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ما اسمُ الآلةِ؟</a:t>
            </a:r>
          </a:p>
          <a:p>
            <a:pPr algn="ctr" rtl="1"/>
            <a:r>
              <a:rPr sz="1400" b="1" lang="ar-SA">
                <a:solidFill>
                  <a:srgbClr val="9A7FD6"/>
                </a:solidFill>
                <a:latin typeface="Arial"/>
                <a:cs typeface="Arial"/>
              </a:rPr>
              <a:t>اضغطي للقلب 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9833" y="1841500"/>
            <a:ext cx="3386667" cy="1905000"/>
          </a:xfrm>
          <a:prstGeom prst="roundRect">
            <a:avLst>
              <a:gd name="adj" fmla="val 1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اسمٌ مُشتقٌّ يدلُّ على </a:t>
            </a:r>
            <a:r>
              <a:rPr sz="2200" b="1" lang="ar-SA">
                <a:solidFill>
                  <a:srgbClr val="FBE59A"/>
                </a:solidFill>
                <a:latin typeface="Arial"/>
                <a:cs typeface="Arial"/>
              </a:rPr>
              <a:t>الأداةِ</a:t>
            </a:r>
          </a:p>
          <a:p>
            <a:pPr algn="ctr" rtl="1"/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التي يُؤدّى بها الفعلُ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2667" y="1841500"/>
            <a:ext cx="3386667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400" b="1" lang="ar-SA">
                <a:solidFill>
                  <a:srgbClr val="2D1F4A"/>
                </a:solidFill>
                <a:latin typeface="Arial"/>
                <a:cs typeface="Arial"/>
              </a:rPr>
              <a:t>⚖️</a:t>
            </a:r>
          </a:p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اذكري ثلاثةَ أوزانٍ</a:t>
            </a:r>
          </a:p>
          <a:p>
            <a:pPr algn="ctr" rtl="1"/>
            <a:r>
              <a:rPr sz="1400" b="1" lang="ar-SA">
                <a:solidFill>
                  <a:srgbClr val="9A7FD6"/>
                </a:solidFill>
                <a:latin typeface="Arial"/>
                <a:cs typeface="Arial"/>
              </a:rPr>
              <a:t>اضغطي للقلب 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2667" y="1841500"/>
            <a:ext cx="3386667" cy="1905000"/>
          </a:xfrm>
          <a:prstGeom prst="roundRect">
            <a:avLst>
              <a:gd name="adj" fmla="val 1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مِفْعَال • مِفْعَل • مِفْعَلَة</a:t>
            </a:r>
          </a:p>
          <a:p>
            <a:pPr algn="ctr" rtl="1"/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فَاعِلَة • فَعَّال • فَعَّالَة • فَاعُول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5500" y="1841500"/>
            <a:ext cx="3386667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400" b="1" lang="ar-SA">
                <a:solidFill>
                  <a:srgbClr val="2D1F4A"/>
                </a:solidFill>
                <a:latin typeface="Arial"/>
                <a:cs typeface="Arial"/>
              </a:rPr>
              <a:t>🌳</a:t>
            </a:r>
          </a:p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ما نوعاه؟</a:t>
            </a:r>
          </a:p>
          <a:p>
            <a:pPr algn="ctr" rtl="1"/>
            <a:r>
              <a:rPr sz="1400" b="1" lang="ar-SA">
                <a:solidFill>
                  <a:srgbClr val="9A7FD6"/>
                </a:solidFill>
                <a:latin typeface="Arial"/>
                <a:cs typeface="Arial"/>
              </a:rPr>
              <a:t>اضغطي للقلب 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5500" y="1841500"/>
            <a:ext cx="3386667" cy="1905000"/>
          </a:xfrm>
          <a:prstGeom prst="roundRect">
            <a:avLst>
              <a:gd name="adj" fmla="val 1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مُشتقٌّ (مِنْشَار)</a:t>
            </a:r>
          </a:p>
          <a:p>
            <a:pPr algn="ctr" rtl="1"/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جامِدٌ (سِكِّين)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250" y="3937000"/>
            <a:ext cx="3386667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400" b="1" lang="ar-SA">
                <a:solidFill>
                  <a:srgbClr val="2D1F4A"/>
                </a:solidFill>
                <a:latin typeface="Arial"/>
                <a:cs typeface="Arial"/>
              </a:rPr>
              <a:t>🔍</a:t>
            </a:r>
          </a:p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كيف أميّزُه؟</a:t>
            </a:r>
          </a:p>
          <a:p>
            <a:pPr algn="ctr" rtl="1"/>
            <a:r>
              <a:rPr sz="1400" b="1" lang="ar-SA">
                <a:solidFill>
                  <a:srgbClr val="9A7FD6"/>
                </a:solidFill>
                <a:latin typeface="Arial"/>
                <a:cs typeface="Arial"/>
              </a:rPr>
              <a:t>اضغطي للقلب 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1250" y="3937000"/>
            <a:ext cx="3386667" cy="1905000"/>
          </a:xfrm>
          <a:prstGeom prst="roundRect">
            <a:avLst>
              <a:gd name="adj" fmla="val 1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أسألُ: هل الكلمةُ </a:t>
            </a:r>
            <a:r>
              <a:rPr sz="2200" b="1" lang="ar-SA">
                <a:solidFill>
                  <a:srgbClr val="FBE59A"/>
                </a:solidFill>
                <a:latin typeface="Arial"/>
                <a:cs typeface="Arial"/>
              </a:rPr>
              <a:t>أداةٌ</a:t>
            </a:r>
          </a:p>
          <a:p>
            <a:pPr algn="ctr" rtl="1"/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نستخدمُها لأداءِ فعلٍ؟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14083" y="3937000"/>
            <a:ext cx="3386667" cy="1905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400" b="1" lang="ar-SA">
                <a:solidFill>
                  <a:srgbClr val="2D1F4A"/>
                </a:solidFill>
                <a:latin typeface="Arial"/>
                <a:cs typeface="Arial"/>
              </a:rPr>
              <a:t>✨</a:t>
            </a:r>
          </a:p>
          <a:p>
            <a:pPr algn="ctr" rtl="1"/>
            <a:r>
              <a:rPr sz="2500" b="1" lang="ar-SA">
                <a:solidFill>
                  <a:srgbClr val="2D1F4A"/>
                </a:solidFill>
                <a:latin typeface="Arial"/>
                <a:cs typeface="Arial"/>
              </a:rPr>
              <a:t>اذكري ثلاثةَ أمثلةٍ</a:t>
            </a:r>
          </a:p>
          <a:p>
            <a:pPr algn="ctr" rtl="1"/>
            <a:r>
              <a:rPr sz="1400" b="1" lang="ar-SA">
                <a:solidFill>
                  <a:srgbClr val="9A7FD6"/>
                </a:solidFill>
                <a:latin typeface="Arial"/>
                <a:cs typeface="Arial"/>
              </a:rPr>
              <a:t>اضغطي للقلب 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14083" y="3937000"/>
            <a:ext cx="3386667" cy="1905000"/>
          </a:xfrm>
          <a:prstGeom prst="roundRect">
            <a:avLst>
              <a:gd name="adj" fmla="val 10000"/>
            </a:avLst>
          </a:prstGeom>
          <a:solidFill>
            <a:srgbClr val="6A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FFFFFF"/>
                </a:solidFill>
                <a:latin typeface="Arial"/>
                <a:cs typeface="Arial"/>
              </a:rPr>
              <a:t>مِفْتَاح • مِكْنَسَة • حَاسُوب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3"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5"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7"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9"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61"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  <p:transition spd="med">
    <p:push dir="r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سؤالُ الخروجِ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⚡ التقييم الفوري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٢٢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5500" y="1333500"/>
            <a:ext cx="10541000" cy="762000"/>
          </a:xfrm>
          <a:prstGeom prst="roundRect">
            <a:avLst>
              <a:gd name="adj" fmla="val 28333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000" b="1" lang="ar-SA">
                <a:solidFill>
                  <a:srgbClr val="2D1F4A"/>
                </a:solidFill>
                <a:latin typeface="Arial"/>
                <a:cs typeface="Arial"/>
              </a:rPr>
              <a:t>في أيِّ جملةٍ جاءَ اسمُ الآلةِ </a:t>
            </a:r>
            <a:r>
              <a:rPr sz="3000" b="1" lang="ar-SA">
                <a:solidFill>
                  <a:srgbClr val="D6336C"/>
                </a:solidFill>
                <a:latin typeface="Arial"/>
                <a:cs typeface="Arial"/>
              </a:rPr>
              <a:t>جامِدًا</a:t>
            </a:r>
            <a:r>
              <a:rPr sz="3000" b="1" lang="ar-SA">
                <a:solidFill>
                  <a:srgbClr val="2D1F4A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3000" y="4667250"/>
            <a:ext cx="4826000" cy="533400"/>
          </a:xfrm>
          <a:prstGeom prst="roundRect">
            <a:avLst>
              <a:gd name="adj" fmla="val 50000"/>
            </a:avLst>
          </a:prstGeom>
          <a:solidFill>
            <a:srgbClr val="FDE9EE"/>
          </a:solidFill>
          <a:ln w="25400">
            <a:solidFill>
              <a:srgbClr val="F3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D9506F"/>
                </a:solidFill>
                <a:latin typeface="Arial"/>
                <a:cs typeface="Arial"/>
              </a:rPr>
              <a:t>حاولي مرة أخرى 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83000" y="4667250"/>
            <a:ext cx="4826000" cy="533400"/>
          </a:xfrm>
          <a:prstGeom prst="roundRect">
            <a:avLst>
              <a:gd name="adj" fmla="val 50000"/>
            </a:avLst>
          </a:prstGeom>
          <a:solidFill>
            <a:srgbClr val="E2F6EA"/>
          </a:solidFill>
          <a:ln w="25400">
            <a:solidFill>
              <a:srgbClr val="9B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400" b="1" lang="ar-SA">
                <a:solidFill>
                  <a:srgbClr val="23945E"/>
                </a:solidFill>
                <a:latin typeface="Arial"/>
                <a:cs typeface="Arial"/>
              </a:rPr>
              <a:t>أحسنتِ! 👏 إجابة صحيحة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0500" y="5334000"/>
            <a:ext cx="9271000" cy="635000"/>
          </a:xfrm>
          <a:prstGeom prst="roundRect">
            <a:avLst>
              <a:gd name="adj" fmla="val 28000"/>
            </a:avLst>
          </a:prstGeom>
          <a:solidFill>
            <a:srgbClr val="FFF9E3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4F2F86"/>
                </a:solidFill>
                <a:latin typeface="Arial"/>
                <a:cs typeface="Arial"/>
              </a:rPr>
              <a:t>(سِكِّين) سَماعيّةٌ ليس لها فعلٌ، فهي </a:t>
            </a:r>
            <a:r>
              <a:rPr sz="2200" b="1" lang="ar-SA">
                <a:solidFill>
                  <a:srgbClr val="D6336C"/>
                </a:solidFill>
                <a:latin typeface="Arial"/>
                <a:cs typeface="Arial"/>
              </a:rPr>
              <a:t>اسمُ آلةٍ جامِدٌ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0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🔪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قطعتُ الخبزَ بالسِّكّينِ.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E2F6EA"/>
          </a:solidFill>
          <a:ln w="38100">
            <a:solidFill>
              <a:srgbClr val="239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23945E"/>
                </a:solidFill>
                <a:latin typeface="Arial"/>
                <a:cs typeface="Arial"/>
              </a:rPr>
              <a:t>✅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🔪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قطعتُ الخبزَ بالسِّكّينِ.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55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🔑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فتحتُ البابَ بالمِفتاحِ.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500" y="234950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🔑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فتحتُ البابَ بالمِفتاحِ.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00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🧹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كنستُ الغرفةَ بالمِكنسةِ.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00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🧹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كنستُ الغرفةَ بالمِكنسةِ.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5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🧮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حسبتُ بالحاسبةِ.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500" y="3460750"/>
            <a:ext cx="5016500" cy="920750"/>
          </a:xfrm>
          <a:prstGeom prst="roundRect">
            <a:avLst>
              <a:gd name="adj" fmla="val 16551"/>
            </a:avLst>
          </a:prstGeom>
          <a:solidFill>
            <a:srgbClr val="FDE9EE"/>
          </a:solidFill>
          <a:ln w="38100">
            <a:solidFill>
              <a:srgbClr val="D950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800" b="1" lang="ar-SA">
                <a:solidFill>
                  <a:srgbClr val="D9506F"/>
                </a:solidFill>
                <a:latin typeface="Arial"/>
                <a:cs typeface="Arial"/>
              </a:rPr>
              <a:t>✖  </a:t>
            </a:r>
            <a:r>
              <a:rPr sz="3200" b="1" lang="ar-SA">
                <a:solidFill>
                  <a:srgbClr val="2D1F4A"/>
                </a:solidFill>
                <a:latin typeface="Arial"/>
                <a:cs typeface="Arial"/>
              </a:rPr>
              <a:t>🧮   </a:t>
            </a:r>
            <a:r>
              <a:rPr sz="2800" b="1" lang="ar-SA">
                <a:solidFill>
                  <a:srgbClr val="2D1F4A"/>
                </a:solidFill>
                <a:latin typeface="Arial"/>
                <a:cs typeface="Arial"/>
              </a:rPr>
              <a:t>حسبتُ بالحاسبةِ.</a:t>
            </a:r>
          </a:p>
        </p:txBody>
      </p:sp>
      <p:pic>
        <p:nvPicPr>
          <p:cNvPr id="13" name="Picture 12" descr="confet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1206500"/>
            <a:ext cx="10795000" cy="444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0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5" name="succe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5"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6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47"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59"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</p:cTn>
                                        <p:tgtEl>
                                          <p:sndTgt r:embed="rId6" name="wro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5" grpId="0" animBg="1"/>
      <p:bldP spid="11" grpId="0" animBg="1"/>
      <p:bldP spid="12" grpId="0" animBg="1"/>
      <p:bldP spid="17" grpId="0" animBg="1"/>
      <p:bldP spid="10" grpId="0" animBg="1"/>
      <p:bldP spid="19" grpId="0" animBg="1"/>
      <p:bldP spid="21" grpId="0" animBg="1"/>
    </p:bldLst>
  </p:timing>
  <p:transition spd="med">
    <p:zoom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6000" y="584200"/>
            <a:ext cx="6413500" cy="6604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3400" b="1" lang="ar-SA">
                <a:solidFill>
                  <a:srgbClr val="4F2F86"/>
                </a:solidFill>
                <a:latin typeface="Arial"/>
                <a:cs typeface="Arial"/>
              </a:rPr>
              <a:t>كيفَ كانَ درسُنا؟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9500" y="685800"/>
            <a:ext cx="2667000" cy="444500"/>
          </a:xfrm>
          <a:prstGeom prst="roundRect">
            <a:avLst>
              <a:gd name="adj" fmla="val 50000"/>
            </a:avLst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FFFFFF"/>
                </a:solidFill>
                <a:latin typeface="Arial"/>
                <a:cs typeface="Arial"/>
              </a:rPr>
              <a:t>🪞 تقييمٌ ذاتيّ</a:t>
            </a:r>
          </a:p>
        </p:txBody>
      </p:sp>
      <p:sp>
        <p:nvSpPr>
          <p:cNvPr id="5" name="Rounded Rectangle 4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6" name="Rounded Rectangle 5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7" name="Rounded Rectangle 6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٢٣ / ٢٤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0" y="1333500"/>
            <a:ext cx="5270500" cy="4762500"/>
          </a:xfrm>
          <a:prstGeom prst="roundRect">
            <a:avLst>
              <a:gd name="adj" fmla="val 4533"/>
            </a:avLst>
          </a:prstGeom>
          <a:solidFill>
            <a:srgbClr val="FFFFFF"/>
          </a:solidFill>
          <a:ln w="2540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0" name="TextBox 9"/>
          <p:cNvSpPr txBox="1"/>
          <p:nvPr/>
        </p:nvSpPr>
        <p:spPr>
          <a:xfrm>
            <a:off x="6286500" y="1587500"/>
            <a:ext cx="48895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700" b="1" lang="ar-SA">
                <a:solidFill>
                  <a:srgbClr val="4F2F86"/>
                </a:solidFill>
                <a:latin typeface="Arial"/>
                <a:cs typeface="Arial"/>
              </a:rPr>
              <a:t>قيّمي فهمَكِ لدرسِ اليومِ: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15500" y="2540000"/>
            <a:ext cx="1460500" cy="17780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5600" b="1" lang="ar-SA">
                <a:solidFill>
                  <a:srgbClr val="2D1F4A"/>
                </a:solidFill>
                <a:latin typeface="Arial"/>
                <a:cs typeface="Arial"/>
              </a:rPr>
              <a:t>😍</a:t>
            </a:r>
          </a:p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فهمتُ تمامًا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4250" y="444500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6A45A8"/>
                </a:solidFill>
                <a:latin typeface="Arial"/>
                <a:cs typeface="Arial"/>
              </a:rPr>
              <a:t>شكرًا 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4500" y="2540000"/>
            <a:ext cx="1460500" cy="17780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5600" b="1" lang="ar-SA">
                <a:solidFill>
                  <a:srgbClr val="2D1F4A"/>
                </a:solidFill>
                <a:latin typeface="Arial"/>
                <a:cs typeface="Arial"/>
              </a:rPr>
              <a:t>🙂</a:t>
            </a:r>
          </a:p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فهمتُ أغلبَه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3250" y="444500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6A45A8"/>
                </a:solidFill>
                <a:latin typeface="Arial"/>
                <a:cs typeface="Arial"/>
              </a:rPr>
              <a:t>شكرًا 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3500" y="2540000"/>
            <a:ext cx="1460500" cy="17780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1750">
            <a:solidFill>
              <a:srgbClr val="E4D7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5600" b="1" lang="ar-SA">
                <a:solidFill>
                  <a:srgbClr val="2D1F4A"/>
                </a:solidFill>
                <a:latin typeface="Arial"/>
                <a:cs typeface="Arial"/>
              </a:rPr>
              <a:t>🤔</a:t>
            </a:r>
          </a:p>
          <a:p>
            <a:pPr algn="ctr" rtl="1"/>
            <a:r>
              <a:rPr sz="2000" b="1" lang="ar-SA">
                <a:solidFill>
                  <a:srgbClr val="2D1F4A"/>
                </a:solidFill>
                <a:latin typeface="Arial"/>
                <a:cs typeface="Arial"/>
              </a:rPr>
              <a:t>أحتاجُ مساعدةً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2250" y="4445000"/>
            <a:ext cx="1143000" cy="381000"/>
          </a:xfrm>
          <a:prstGeom prst="roundRect">
            <a:avLst>
              <a:gd name="adj" fmla="val 50000"/>
            </a:avLst>
          </a:prstGeom>
          <a:solidFill>
            <a:srgbClr val="F4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800" b="1" lang="ar-SA">
                <a:solidFill>
                  <a:srgbClr val="6A45A8"/>
                </a:solidFill>
                <a:latin typeface="Arial"/>
                <a:cs typeface="Arial"/>
              </a:rPr>
              <a:t>شكرًا 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5500" y="1333500"/>
            <a:ext cx="5080000" cy="4762500"/>
          </a:xfrm>
          <a:prstGeom prst="roundRect">
            <a:avLst>
              <a:gd name="adj" fmla="val 4533"/>
            </a:avLst>
          </a:prstGeom>
          <a:solidFill>
            <a:srgbClr val="FFF9E3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</a:p>
        </p:txBody>
      </p:sp>
      <p:sp>
        <p:nvSpPr>
          <p:cNvPr id="18" name="TextBox 17"/>
          <p:cNvSpPr txBox="1"/>
          <p:nvPr/>
        </p:nvSpPr>
        <p:spPr>
          <a:xfrm>
            <a:off x="1016000" y="1524000"/>
            <a:ext cx="4699000" cy="508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r" rtl="1"/>
            <a:r>
              <a:rPr sz="2900" b="1" lang="ar-SA">
                <a:solidFill>
                  <a:srgbClr val="4F2F86"/>
                </a:solidFill>
                <a:latin typeface="Arial"/>
                <a:cs typeface="Arial"/>
              </a:rPr>
              <a:t>🏠 الواجبُ المنزليُّ</a:t>
            </a:r>
          </a:p>
        </p:txBody>
      </p:sp>
      <p:sp>
        <p:nvSpPr>
          <p:cNvPr id="19" name="Oval 18"/>
          <p:cNvSpPr/>
          <p:nvPr/>
        </p:nvSpPr>
        <p:spPr>
          <a:xfrm>
            <a:off x="5270500" y="2286000"/>
            <a:ext cx="406400" cy="406400"/>
          </a:xfrm>
          <a:prstGeom prst="ellipse">
            <a:avLst/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000" y="2222500"/>
            <a:ext cx="4127500" cy="1206500"/>
          </a:xfrm>
          <a:prstGeom prst="rect">
            <a:avLst/>
          </a:prstGeom>
          <a:noFill/>
        </p:spPr>
        <p:txBody>
          <a:bodyPr wrap="square" lIns="63500" rIns="63500" tIns="31750" bIns="31750" anchor="t">
            <a:noAutofit/>
          </a:bodyPr>
          <a:lstStyle/>
          <a:p>
            <a:pPr algn="r" rtl="1">
              <a:lnSpc>
                <a:spcPct val="120000"/>
              </a:lnSpc>
            </a:pPr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اكتبي أكبرَ عددٍ من أسماءِ الآلةِ التي نستخدمُها في حياتِنا.</a:t>
            </a:r>
          </a:p>
        </p:txBody>
      </p:sp>
      <p:sp>
        <p:nvSpPr>
          <p:cNvPr id="21" name="Oval 20"/>
          <p:cNvSpPr/>
          <p:nvPr/>
        </p:nvSpPr>
        <p:spPr>
          <a:xfrm>
            <a:off x="5270500" y="3683000"/>
            <a:ext cx="406400" cy="406400"/>
          </a:xfrm>
          <a:prstGeom prst="ellipse">
            <a:avLst/>
          </a:prstGeom>
          <a:solidFill>
            <a:srgbClr val="7D5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000" b="1" lang="ar-SA">
                <a:solidFill>
                  <a:srgbClr val="FFFFFF"/>
                </a:solidFill>
                <a:latin typeface="Arial"/>
                <a:cs typeface="Arial"/>
              </a:rPr>
              <a:t>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000" y="3619500"/>
            <a:ext cx="4127500" cy="1206500"/>
          </a:xfrm>
          <a:prstGeom prst="rect">
            <a:avLst/>
          </a:prstGeom>
          <a:noFill/>
        </p:spPr>
        <p:txBody>
          <a:bodyPr wrap="square" lIns="63500" rIns="63500" tIns="31750" bIns="31750" anchor="t">
            <a:noAutofit/>
          </a:bodyPr>
          <a:lstStyle/>
          <a:p>
            <a:pPr algn="r" rtl="1">
              <a:lnSpc>
                <a:spcPct val="120000"/>
              </a:lnSpc>
            </a:pPr>
            <a:r>
              <a:rPr sz="2300" b="1" lang="ar-SA">
                <a:solidFill>
                  <a:srgbClr val="2D1F4A"/>
                </a:solidFill>
                <a:latin typeface="Arial"/>
                <a:cs typeface="Arial"/>
              </a:rPr>
              <a:t>ابحثي في المعجمِ عن معنى: (مِنْجَل، مِبْرَد، مِبْضَع)، وركّبي كلًّا منها في جملةٍ مفيدةٍ.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0"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1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19"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28"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ndTgt r:embed="rId4" name="po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</p:bldLst>
  </p:timing>
  <p:transition spd="med">
    <p:push dir="r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>
            <a:hlinkClick r:id="" action="ppaction://hlinkshowjump?jump=nextslide" highlightClick="1"/>
          </p:cNvPr>
          <p:cNvSpPr/>
          <p:nvPr/>
        </p:nvSpPr>
        <p:spPr>
          <a:xfrm>
            <a:off x="4667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التالي ←</a:t>
            </a:r>
          </a:p>
        </p:txBody>
      </p:sp>
      <p:sp>
        <p:nvSpPr>
          <p:cNvPr id="4" name="Rounded Rectangle 3">
            <a:hlinkClick r:id="" action="ppaction://noaction" highlightClick="1">
              <a:snd r:embed="rId3" name="applause.wav"/>
            </a:hlinkClick>
          </p:cNvPr>
          <p:cNvSpPr/>
          <p:nvPr/>
        </p:nvSpPr>
        <p:spPr>
          <a:xfrm>
            <a:off x="5842000" y="6400800"/>
            <a:ext cx="508000" cy="4191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600" b="1" lang="ar-SA">
                <a:solidFill>
                  <a:srgbClr val="3B2263"/>
                </a:solidFill>
                <a:latin typeface="Arial"/>
                <a:cs typeface="Arial"/>
              </a:rPr>
              <a:t>👏</a:t>
            </a:r>
          </a:p>
        </p:txBody>
      </p:sp>
      <p:sp>
        <p:nvSpPr>
          <p:cNvPr id="5" name="Rounded Rectangle 4">
            <a:hlinkClick r:id="" action="ppaction://hlinkshowjump?jump=previousslide" highlightClick="1"/>
          </p:cNvPr>
          <p:cNvSpPr/>
          <p:nvPr/>
        </p:nvSpPr>
        <p:spPr>
          <a:xfrm>
            <a:off x="6445250" y="6438900"/>
            <a:ext cx="1079500" cy="342900"/>
          </a:xfrm>
          <a:prstGeom prst="roundRect">
            <a:avLst>
              <a:gd name="adj" fmla="val 50000"/>
            </a:avLst>
          </a:prstGeom>
          <a:solidFill>
            <a:srgbClr val="4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500" b="1" lang="ar-SA">
                <a:solidFill>
                  <a:srgbClr val="FFFFFF"/>
                </a:solidFill>
                <a:latin typeface="Arial"/>
                <a:cs typeface="Arial"/>
              </a:rPr>
              <a:t>→ السابق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50" y="6438900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1600" b="1" lang="ar-SA">
                <a:solidFill>
                  <a:srgbClr val="4F2F86"/>
                </a:solidFill>
                <a:latin typeface="Arial"/>
                <a:cs typeface="Arial"/>
              </a:rPr>
              <a:t>٢٤ / ٢٤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1000" y="1016000"/>
            <a:ext cx="1270000" cy="1079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8000" b="1" lang="ar-SA">
                <a:solidFill>
                  <a:srgbClr val="2D1F4A"/>
                </a:solidFill>
                <a:latin typeface="Arial"/>
                <a:cs typeface="Arial"/>
              </a:rPr>
              <a:t>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32000"/>
            <a:ext cx="7620000" cy="10795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6600" b="1" lang="ar-SA">
                <a:solidFill>
                  <a:srgbClr val="4F2F86"/>
                </a:solidFill>
                <a:latin typeface="Arial"/>
                <a:cs typeface="Arial"/>
              </a:rPr>
              <a:t>أنتُنَّ رائعات!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1000" y="3175000"/>
            <a:ext cx="8890000" cy="1016000"/>
          </a:xfrm>
          <a:prstGeom prst="rect">
            <a:avLst/>
          </a:prstGeom>
          <a:noFill/>
        </p:spPr>
        <p:txBody>
          <a:bodyPr wrap="square" lIns="63500" rIns="63500" tIns="31750" bIns="31750" anchor="ctr">
            <a:noAutofit/>
          </a:bodyPr>
          <a:lstStyle/>
          <a:p>
            <a:pPr algn="ctr" rtl="1"/>
            <a:r>
              <a:rPr sz="2600" b="1" lang="ar-SA">
                <a:solidFill>
                  <a:srgbClr val="6A45A8"/>
                </a:solidFill>
                <a:latin typeface="Arial"/>
                <a:cs typeface="Arial"/>
              </a:rPr>
              <a:t>اليومَ تعلّمنا أنّ لكلِّ أداةٍ اسمًا جميلًا يحكي قصّةَ فعلِها..</a:t>
            </a:r>
          </a:p>
          <a:p>
            <a:pPr algn="ctr" rtl="1"/>
            <a:r>
              <a:rPr sz="2600" b="1" lang="ar-SA">
                <a:solidFill>
                  <a:srgbClr val="6A45A8"/>
                </a:solidFill>
                <a:latin typeface="Arial"/>
                <a:cs typeface="Arial"/>
              </a:rPr>
              <a:t>فكوني دائمًا </a:t>
            </a:r>
            <a:r>
              <a:rPr sz="2600" b="1" lang="ar-SA">
                <a:solidFill>
                  <a:srgbClr val="D6336C"/>
                </a:solidFill>
                <a:latin typeface="Arial"/>
                <a:cs typeface="Arial"/>
              </a:rPr>
              <a:t>مِفتاحًا</a:t>
            </a:r>
            <a:r>
              <a:rPr sz="2600" b="1" lang="ar-SA">
                <a:solidFill>
                  <a:srgbClr val="6A45A8"/>
                </a:solidFill>
                <a:latin typeface="Arial"/>
                <a:cs typeface="Arial"/>
              </a:rPr>
              <a:t> للخيرِ، </a:t>
            </a:r>
            <a:r>
              <a:rPr sz="2600" b="1" lang="ar-SA">
                <a:solidFill>
                  <a:srgbClr val="D6336C"/>
                </a:solidFill>
                <a:latin typeface="Arial"/>
                <a:cs typeface="Arial"/>
              </a:rPr>
              <a:t>ومِصباحًا</a:t>
            </a:r>
            <a:r>
              <a:rPr sz="2600" b="1" lang="ar-SA">
                <a:solidFill>
                  <a:srgbClr val="6A45A8"/>
                </a:solidFill>
                <a:latin typeface="Arial"/>
                <a:cs typeface="Arial"/>
              </a:rPr>
              <a:t> للعلمِ 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6000" y="4318000"/>
            <a:ext cx="5080000" cy="482600"/>
          </a:xfrm>
          <a:prstGeom prst="roundRect">
            <a:avLst>
              <a:gd name="adj" fmla="val 50000"/>
            </a:avLst>
          </a:prstGeom>
          <a:solidFill>
            <a:srgbClr val="FDF0C2"/>
          </a:solidFill>
          <a:ln w="25400">
            <a:solidFill>
              <a:srgbClr val="FBE5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2200" b="1" lang="ar-SA">
                <a:solidFill>
                  <a:srgbClr val="3B2263"/>
                </a:solidFill>
                <a:latin typeface="Arial"/>
                <a:cs typeface="Arial"/>
              </a:rPr>
              <a:t>العلمُ نورٌ.. وأنتُنَّ نجماتُه 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73500" y="5016500"/>
            <a:ext cx="4445000" cy="635000"/>
          </a:xfrm>
          <a:prstGeom prst="roundRect">
            <a:avLst>
              <a:gd name="adj" fmla="val 50000"/>
            </a:avLst>
          </a:prstGeom>
          <a:solidFill>
            <a:srgbClr val="F2C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1750" bIns="31750">
            <a:noAutofit/>
          </a:bodyPr>
          <a:lstStyle/>
          <a:p>
            <a:pPr algn="ctr" rtl="1"/>
            <a:r>
              <a:rPr sz="3000" b="1" lang="ar-SA">
                <a:solidFill>
                  <a:srgbClr val="3B2263"/>
                </a:solidFill>
                <a:latin typeface="Arial"/>
                <a:cs typeface="Arial"/>
              </a:rPr>
              <a:t>👏 صفّقنَ لأنفسِكنّ</a:t>
            </a:r>
          </a:p>
        </p:txBody>
      </p:sp>
      <p:pic>
        <p:nvPicPr>
          <p:cNvPr id="12" name="Picture 11" descr="confet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762000"/>
            <a:ext cx="10795000" cy="482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80000">
                                        <p:cTn id="32"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</p:cTn>
                                        <p:tgtEl>
                                          <p:sndTgt r:embed="rId3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Next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  <p:transition spd="med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اسم الآلة — لغتي</dc:title>
  <dc:subject/>
  <dc:creator>حنان العنزي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